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16" roundtripDataSignature="AMtx7mhV0uBM0phnNxgfBPA1ZKmxX7+nK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3b6023e473c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" name="Google Shape;27;g3b6023e473c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g3b6023e473c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b783f0365d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" name="Google Shape;45;g3b783f0365d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g3b783f0365d_0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b783f0365d_0_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b783f0365d_0_8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g3b783f0365d_0_8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b783f0365d_0_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b783f0365d_0_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g3b783f0365d_0_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b783f0365d_0_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b783f0365d_0_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g3b783f0365d_0_3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783f0365d_0_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b783f0365d_0_8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g3b783f0365d_0_8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b783f0365d_0_1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b783f0365d_0_10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g3b783f0365d_0_10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0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0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0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 slide layout">
  <p:cSld name="End slide layout">
    <p:bg>
      <p:bgPr>
        <a:solidFill>
          <a:schemeClr val="accent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hyperlink" Target="https://www.kaggle.com/datasets/fedesoriano/heart-failure-prediction/data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"/>
          <p:cNvSpPr txBox="1"/>
          <p:nvPr/>
        </p:nvSpPr>
        <p:spPr>
          <a:xfrm>
            <a:off x="0" y="948958"/>
            <a:ext cx="12192000" cy="49600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6879"/>
              </a:buClr>
              <a:buSzPts val="4000"/>
              <a:buFont typeface="Arial"/>
              <a:buNone/>
            </a:pPr>
            <a:r>
              <a:rPr b="1" lang="en-US" sz="4100">
                <a:solidFill>
                  <a:srgbClr val="1155CC"/>
                </a:solidFill>
              </a:rPr>
              <a:t>Giới thiệu Google colab và ứng dụng AI</a:t>
            </a:r>
            <a:endParaRPr b="1" sz="4100">
              <a:solidFill>
                <a:srgbClr val="1155CC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6879"/>
              </a:buClr>
              <a:buSzPts val="4000"/>
              <a:buFont typeface="Arial"/>
              <a:buNone/>
            </a:pPr>
            <a:r>
              <a:rPr b="1" lang="en-US" sz="4100">
                <a:solidFill>
                  <a:srgbClr val="1155CC"/>
                </a:solidFill>
              </a:rPr>
              <a:t>trong viết ngôn ngữ lập trình R</a:t>
            </a:r>
            <a:endParaRPr b="1" sz="4100">
              <a:solidFill>
                <a:srgbClr val="1155CC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1" i="1" sz="2400">
              <a:solidFill>
                <a:srgbClr val="20687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6879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TS. Lưu Phúc Lợi,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6879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Trưởng Phòng Nghiên cứu khoa học, Viện Ariha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6879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Bệnh viện Thống Nhất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2" name="Google Shape;22;p1"/>
          <p:cNvSpPr txBox="1"/>
          <p:nvPr/>
        </p:nvSpPr>
        <p:spPr>
          <a:xfrm>
            <a:off x="4508525" y="541645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Jan 11, 2026</a:t>
            </a:r>
            <a:endParaRPr sz="1000"/>
          </a:p>
        </p:txBody>
      </p:sp>
      <p:pic>
        <p:nvPicPr>
          <p:cNvPr id="23" name="Google Shape;2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789" y="214774"/>
            <a:ext cx="1216730" cy="11978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34086" y="132643"/>
            <a:ext cx="1216730" cy="1280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b6023e473c_0_0"/>
          <p:cNvSpPr txBox="1"/>
          <p:nvPr/>
        </p:nvSpPr>
        <p:spPr>
          <a:xfrm>
            <a:off x="1181550" y="1073505"/>
            <a:ext cx="98292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Free, cloud-based tool that lets you write and run code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“Google Docs for Code”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runs entirely in your web browser—no software installation required</a:t>
            </a:r>
            <a:endParaRPr sz="2400"/>
          </a:p>
        </p:txBody>
      </p:sp>
      <p:sp>
        <p:nvSpPr>
          <p:cNvPr id="31" name="Google Shape;31;g3b6023e473c_0_0"/>
          <p:cNvSpPr/>
          <p:nvPr/>
        </p:nvSpPr>
        <p:spPr>
          <a:xfrm>
            <a:off x="150" y="0"/>
            <a:ext cx="12192000" cy="919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00">
                <a:solidFill>
                  <a:srgbClr val="1155CC"/>
                </a:solidFill>
              </a:rPr>
              <a:t>GIỚI THIỆU </a:t>
            </a:r>
            <a:r>
              <a:rPr b="1" lang="en-US" sz="3700">
                <a:solidFill>
                  <a:srgbClr val="1155CC"/>
                </a:solidFill>
              </a:rPr>
              <a:t>GOOGLE COLAB</a:t>
            </a:r>
            <a:endParaRPr>
              <a:solidFill>
                <a:srgbClr val="1155CC"/>
              </a:solidFill>
            </a:endParaRPr>
          </a:p>
        </p:txBody>
      </p:sp>
      <p:pic>
        <p:nvPicPr>
          <p:cNvPr id="32" name="Google Shape;32;g3b6023e473c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8150" y="2366500"/>
            <a:ext cx="8138400" cy="422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"/>
          <p:cNvSpPr/>
          <p:nvPr/>
        </p:nvSpPr>
        <p:spPr>
          <a:xfrm>
            <a:off x="150" y="0"/>
            <a:ext cx="12192000" cy="919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00">
                <a:solidFill>
                  <a:srgbClr val="1155CC"/>
                </a:solidFill>
              </a:rPr>
              <a:t>GIỚI THIỆU NGÔN NGỮ LẬP TRÌNH R</a:t>
            </a:r>
            <a:endParaRPr>
              <a:solidFill>
                <a:srgbClr val="1155CC"/>
              </a:solidFill>
            </a:endParaRPr>
          </a:p>
        </p:txBody>
      </p:sp>
      <p:sp>
        <p:nvSpPr>
          <p:cNvPr id="38" name="Google Shape;38;p2"/>
          <p:cNvSpPr txBox="1"/>
          <p:nvPr/>
        </p:nvSpPr>
        <p:spPr>
          <a:xfrm>
            <a:off x="475550" y="1445650"/>
            <a:ext cx="6775800" cy="41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• Môi trường tính toán cho thống kê, mô hình hoá và trực quan hoá dữ liệu.</a:t>
            </a:r>
            <a:endParaRPr sz="2400">
              <a:solidFill>
                <a:schemeClr val="dk1"/>
              </a:solidFill>
            </a:endParaRPr>
          </a:p>
          <a:p>
            <a:pPr indent="-330200" lvl="0" marL="279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solidFill>
                  <a:schemeClr val="dk1"/>
                </a:solidFill>
              </a:rPr>
              <a:t>Miễn phí, mã nguồn mở.</a:t>
            </a:r>
            <a:endParaRPr sz="2400">
              <a:solidFill>
                <a:schemeClr val="dk1"/>
              </a:solidFill>
            </a:endParaRPr>
          </a:p>
          <a:p>
            <a:pPr indent="-330200" lvl="0" marL="279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solidFill>
                  <a:schemeClr val="dk1"/>
                </a:solidFill>
              </a:rPr>
              <a:t>Hỗ trợ phân tích tái lập (R Markdown/Quarto).</a:t>
            </a:r>
            <a:endParaRPr sz="2400">
              <a:solidFill>
                <a:schemeClr val="dk1"/>
              </a:solidFill>
            </a:endParaRPr>
          </a:p>
          <a:p>
            <a:pPr indent="-330200" lvl="0" marL="279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solidFill>
                  <a:schemeClr val="dk1"/>
                </a:solidFill>
              </a:rPr>
              <a:t>Hệ sinh thái gói lớn: CRAN (đa lĩnh vực) và Bioconductor (omics/bioinformatics).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• Sử dụng rộng rãi trong lĩnh vực học thuật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• Có thể tích hợp vào các phần mềm khác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• Dễ học</a:t>
            </a:r>
            <a:endParaRPr b="1" sz="2400">
              <a:solidFill>
                <a:schemeClr val="dk1"/>
              </a:solidFill>
            </a:endParaRPr>
          </a:p>
        </p:txBody>
      </p:sp>
      <p:grpSp>
        <p:nvGrpSpPr>
          <p:cNvPr id="39" name="Google Shape;39;p2"/>
          <p:cNvGrpSpPr/>
          <p:nvPr/>
        </p:nvGrpSpPr>
        <p:grpSpPr>
          <a:xfrm>
            <a:off x="7456750" y="1974588"/>
            <a:ext cx="3753324" cy="3552662"/>
            <a:chOff x="7456750" y="1974588"/>
            <a:chExt cx="3753324" cy="3552662"/>
          </a:xfrm>
        </p:grpSpPr>
        <p:pic>
          <p:nvPicPr>
            <p:cNvPr id="40" name="Google Shape;40;p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456750" y="1974588"/>
              <a:ext cx="3753324" cy="29088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" name="Google Shape;41;p2"/>
            <p:cNvSpPr txBox="1"/>
            <p:nvPr/>
          </p:nvSpPr>
          <p:spPr>
            <a:xfrm>
              <a:off x="7875925" y="5096150"/>
              <a:ext cx="30000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</a:rPr>
                <a:t>https://www.r-project.org/</a:t>
              </a:r>
              <a:endParaRPr sz="1600">
                <a:solidFill>
                  <a:schemeClr val="dk1"/>
                </a:solidFill>
              </a:endParaRPr>
            </a:p>
          </p:txBody>
        </p:sp>
      </p:grpSp>
      <p:pic>
        <p:nvPicPr>
          <p:cNvPr id="42" name="Google Shape;42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6325" y="5925613"/>
            <a:ext cx="5772150" cy="36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b783f0365d_0_7"/>
          <p:cNvSpPr/>
          <p:nvPr/>
        </p:nvSpPr>
        <p:spPr>
          <a:xfrm>
            <a:off x="150" y="0"/>
            <a:ext cx="12192000" cy="919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00">
                <a:solidFill>
                  <a:srgbClr val="1155CC"/>
                </a:solidFill>
              </a:rPr>
              <a:t>ỨNG DỤNG </a:t>
            </a:r>
            <a:r>
              <a:rPr b="1" lang="en-US" sz="3700">
                <a:solidFill>
                  <a:srgbClr val="1155CC"/>
                </a:solidFill>
              </a:rPr>
              <a:t>NGÔN NGỮ LẬP TRÌNH R</a:t>
            </a:r>
            <a:endParaRPr>
              <a:solidFill>
                <a:srgbClr val="1155CC"/>
              </a:solidFill>
            </a:endParaRPr>
          </a:p>
        </p:txBody>
      </p:sp>
      <p:grpSp>
        <p:nvGrpSpPr>
          <p:cNvPr id="49" name="Google Shape;49;g3b783f0365d_0_7"/>
          <p:cNvGrpSpPr/>
          <p:nvPr/>
        </p:nvGrpSpPr>
        <p:grpSpPr>
          <a:xfrm>
            <a:off x="640455" y="1329157"/>
            <a:ext cx="10911388" cy="4617780"/>
            <a:chOff x="640080" y="1600200"/>
            <a:chExt cx="10911388" cy="4617780"/>
          </a:xfrm>
        </p:grpSpPr>
        <p:sp>
          <p:nvSpPr>
            <p:cNvPr id="50" name="Google Shape;50;g3b783f0365d_0_7"/>
            <p:cNvSpPr/>
            <p:nvPr/>
          </p:nvSpPr>
          <p:spPr>
            <a:xfrm>
              <a:off x="640080" y="1600200"/>
              <a:ext cx="5295600" cy="21489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12700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bl" dir="2700000" dist="19050">
                <a:srgbClr val="000000">
                  <a:alpha val="1176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</p:txBody>
        </p:sp>
        <p:sp>
          <p:nvSpPr>
            <p:cNvPr id="51" name="Google Shape;51;g3b783f0365d_0_7"/>
            <p:cNvSpPr/>
            <p:nvPr/>
          </p:nvSpPr>
          <p:spPr>
            <a:xfrm>
              <a:off x="640080" y="1600200"/>
              <a:ext cx="73200" cy="2148900"/>
            </a:xfrm>
            <a:prstGeom prst="rect">
              <a:avLst/>
            </a:prstGeom>
            <a:solidFill>
              <a:srgbClr val="2563EB"/>
            </a:solidFill>
            <a:ln cap="flat" cmpd="sng" w="12700">
              <a:solidFill>
                <a:srgbClr val="2563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</p:txBody>
        </p:sp>
        <p:sp>
          <p:nvSpPr>
            <p:cNvPr id="52" name="Google Shape;52;g3b783f0365d_0_7"/>
            <p:cNvSpPr/>
            <p:nvPr/>
          </p:nvSpPr>
          <p:spPr>
            <a:xfrm>
              <a:off x="841248" y="1764792"/>
              <a:ext cx="4975800" cy="32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11827"/>
                </a:buClr>
                <a:buSzPts val="1600"/>
                <a:buFont typeface="Calibri"/>
                <a:buNone/>
              </a:pPr>
              <a:r>
                <a:rPr b="1" i="0" lang="en-US" sz="1900" u="none" cap="none" strike="noStrike">
                  <a:solidFill>
                    <a:srgbClr val="111827"/>
                  </a:solidFill>
                </a:rPr>
                <a:t>1) Dữ liệu &amp; trực quan</a:t>
              </a:r>
              <a:endParaRPr i="0" sz="1900" u="none" cap="none" strike="noStrike">
                <a:solidFill>
                  <a:srgbClr val="000000"/>
                </a:solidFill>
              </a:endParaRPr>
            </a:p>
          </p:txBody>
        </p:sp>
        <p:sp>
          <p:nvSpPr>
            <p:cNvPr id="53" name="Google Shape;53;g3b783f0365d_0_7"/>
            <p:cNvSpPr/>
            <p:nvPr/>
          </p:nvSpPr>
          <p:spPr>
            <a:xfrm>
              <a:off x="859536" y="2167128"/>
              <a:ext cx="4929900" cy="12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266700" lvl="0" marL="228600" marR="0" rtl="0" algn="l">
                <a:spcBef>
                  <a:spcPts val="0"/>
                </a:spcBef>
                <a:spcAft>
                  <a:spcPts val="0"/>
                </a:spcAft>
                <a:buClr>
                  <a:srgbClr val="374151"/>
                </a:buClr>
                <a:buSzPts val="1900"/>
                <a:buChar char="•"/>
              </a:pPr>
              <a:r>
                <a:rPr i="0" lang="en-US" sz="1900" u="none" cap="none" strike="noStrike">
                  <a:solidFill>
                    <a:srgbClr val="374151"/>
                  </a:solidFill>
                </a:rPr>
                <a:t>readr/haven: nhập dữ liệu</a:t>
              </a:r>
              <a:endParaRPr i="0" sz="1900" u="none" cap="none" strike="noStrike">
                <a:solidFill>
                  <a:srgbClr val="000000"/>
                </a:solidFill>
              </a:endParaRPr>
            </a:p>
            <a:p>
              <a:pPr indent="-266700" lvl="0" marL="228600" marR="0" rtl="0" algn="l">
                <a:spcBef>
                  <a:spcPts val="400"/>
                </a:spcBef>
                <a:spcAft>
                  <a:spcPts val="0"/>
                </a:spcAft>
                <a:buClr>
                  <a:srgbClr val="374151"/>
                </a:buClr>
                <a:buSzPts val="1900"/>
                <a:buChar char="•"/>
              </a:pPr>
              <a:r>
                <a:rPr i="0" lang="en-US" sz="1900" u="none" cap="none" strike="noStrike">
                  <a:solidFill>
                    <a:srgbClr val="374151"/>
                  </a:solidFill>
                </a:rPr>
                <a:t>dplyr/tidyr: làm sạch &amp; biến đổi</a:t>
              </a:r>
              <a:endParaRPr i="0" sz="1900" u="none" cap="none" strike="noStrike">
                <a:solidFill>
                  <a:srgbClr val="000000"/>
                </a:solidFill>
              </a:endParaRPr>
            </a:p>
            <a:p>
              <a:pPr indent="-266700" lvl="0" marL="228600" marR="0" rtl="0" algn="l">
                <a:spcBef>
                  <a:spcPts val="400"/>
                </a:spcBef>
                <a:spcAft>
                  <a:spcPts val="0"/>
                </a:spcAft>
                <a:buClr>
                  <a:srgbClr val="374151"/>
                </a:buClr>
                <a:buSzPts val="1900"/>
                <a:buChar char="•"/>
              </a:pPr>
              <a:r>
                <a:rPr i="0" lang="en-US" sz="1900" u="none" cap="none" strike="noStrike">
                  <a:solidFill>
                    <a:srgbClr val="374151"/>
                  </a:solidFill>
                </a:rPr>
                <a:t>ggplot2: biểu đồ chất lượng xuất bản</a:t>
              </a:r>
              <a:endParaRPr i="0" sz="1900" u="none" cap="none" strike="noStrike">
                <a:solidFill>
                  <a:srgbClr val="000000"/>
                </a:solidFill>
              </a:endParaRPr>
            </a:p>
          </p:txBody>
        </p:sp>
        <p:sp>
          <p:nvSpPr>
            <p:cNvPr id="54" name="Google Shape;54;g3b783f0365d_0_7"/>
            <p:cNvSpPr/>
            <p:nvPr/>
          </p:nvSpPr>
          <p:spPr>
            <a:xfrm>
              <a:off x="6255868" y="1600200"/>
              <a:ext cx="5295600" cy="21489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12700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bl" dir="2700000" dist="19050">
                <a:srgbClr val="000000">
                  <a:alpha val="1176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</p:txBody>
        </p:sp>
        <p:sp>
          <p:nvSpPr>
            <p:cNvPr id="55" name="Google Shape;55;g3b783f0365d_0_7"/>
            <p:cNvSpPr/>
            <p:nvPr/>
          </p:nvSpPr>
          <p:spPr>
            <a:xfrm>
              <a:off x="6255868" y="1600200"/>
              <a:ext cx="73200" cy="2148900"/>
            </a:xfrm>
            <a:prstGeom prst="rect">
              <a:avLst/>
            </a:prstGeom>
            <a:solidFill>
              <a:srgbClr val="DC2626"/>
            </a:solidFill>
            <a:ln cap="flat" cmpd="sng" w="12700">
              <a:solidFill>
                <a:srgbClr val="DC262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</p:txBody>
        </p:sp>
        <p:sp>
          <p:nvSpPr>
            <p:cNvPr id="56" name="Google Shape;56;g3b783f0365d_0_7"/>
            <p:cNvSpPr/>
            <p:nvPr/>
          </p:nvSpPr>
          <p:spPr>
            <a:xfrm>
              <a:off x="6457036" y="1764792"/>
              <a:ext cx="4975800" cy="32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11827"/>
                </a:buClr>
                <a:buSzPts val="1600"/>
                <a:buFont typeface="Calibri"/>
                <a:buNone/>
              </a:pPr>
              <a:r>
                <a:rPr b="1" i="0" lang="en-US" sz="1900" u="none" cap="none" strike="noStrike">
                  <a:solidFill>
                    <a:srgbClr val="111827"/>
                  </a:solidFill>
                </a:rPr>
                <a:t>2) Thống kê lâm sàng</a:t>
              </a:r>
              <a:endParaRPr i="0" sz="1900" u="none" cap="none" strike="noStrike">
                <a:solidFill>
                  <a:srgbClr val="000000"/>
                </a:solidFill>
              </a:endParaRPr>
            </a:p>
          </p:txBody>
        </p:sp>
        <p:sp>
          <p:nvSpPr>
            <p:cNvPr id="57" name="Google Shape;57;g3b783f0365d_0_7"/>
            <p:cNvSpPr/>
            <p:nvPr/>
          </p:nvSpPr>
          <p:spPr>
            <a:xfrm>
              <a:off x="6475324" y="2167128"/>
              <a:ext cx="4929900" cy="12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266700" lvl="0" marL="228600" marR="0" rtl="0" algn="l">
                <a:spcBef>
                  <a:spcPts val="0"/>
                </a:spcBef>
                <a:spcAft>
                  <a:spcPts val="0"/>
                </a:spcAft>
                <a:buClr>
                  <a:srgbClr val="374151"/>
                </a:buClr>
                <a:buSzPts val="1900"/>
                <a:buChar char="•"/>
              </a:pPr>
              <a:r>
                <a:rPr i="0" lang="en-US" sz="1900" u="none" cap="none" strike="noStrike">
                  <a:solidFill>
                    <a:srgbClr val="374151"/>
                  </a:solidFill>
                </a:rPr>
                <a:t>Hồi quy (GLM), mô hình hỗn hợp</a:t>
              </a:r>
              <a:endParaRPr i="0" sz="1900" u="none" cap="none" strike="noStrike">
                <a:solidFill>
                  <a:srgbClr val="000000"/>
                </a:solidFill>
              </a:endParaRPr>
            </a:p>
            <a:p>
              <a:pPr indent="-266700" lvl="0" marL="228600" marR="0" rtl="0" algn="l">
                <a:spcBef>
                  <a:spcPts val="400"/>
                </a:spcBef>
                <a:spcAft>
                  <a:spcPts val="0"/>
                </a:spcAft>
                <a:buClr>
                  <a:srgbClr val="374151"/>
                </a:buClr>
                <a:buSzPts val="1900"/>
                <a:buChar char="•"/>
              </a:pPr>
              <a:r>
                <a:rPr i="0" lang="en-US" sz="1900" u="none" cap="none" strike="noStrike">
                  <a:solidFill>
                    <a:srgbClr val="374151"/>
                  </a:solidFill>
                </a:rPr>
                <a:t>Sống sót (survival), ROC/AUC</a:t>
              </a:r>
              <a:endParaRPr i="0" sz="1900" u="none" cap="none" strike="noStrike">
                <a:solidFill>
                  <a:srgbClr val="000000"/>
                </a:solidFill>
              </a:endParaRPr>
            </a:p>
            <a:p>
              <a:pPr indent="-266700" lvl="0" marL="228600" marR="0" rtl="0" algn="l">
                <a:spcBef>
                  <a:spcPts val="400"/>
                </a:spcBef>
                <a:spcAft>
                  <a:spcPts val="0"/>
                </a:spcAft>
                <a:buClr>
                  <a:srgbClr val="374151"/>
                </a:buClr>
                <a:buSzPts val="1900"/>
                <a:buChar char="•"/>
              </a:pPr>
              <a:r>
                <a:rPr i="0" lang="en-US" sz="1900" u="none" cap="none" strike="noStrike">
                  <a:solidFill>
                    <a:srgbClr val="374151"/>
                  </a:solidFill>
                </a:rPr>
                <a:t>Thiết kế &amp; phân tích thử nghiệm</a:t>
              </a:r>
              <a:endParaRPr i="0" sz="1900" u="none" cap="none" strike="noStrike">
                <a:solidFill>
                  <a:srgbClr val="000000"/>
                </a:solidFill>
              </a:endParaRPr>
            </a:p>
          </p:txBody>
        </p:sp>
        <p:sp>
          <p:nvSpPr>
            <p:cNvPr id="58" name="Google Shape;58;g3b783f0365d_0_7"/>
            <p:cNvSpPr/>
            <p:nvPr/>
          </p:nvSpPr>
          <p:spPr>
            <a:xfrm>
              <a:off x="640080" y="4069080"/>
              <a:ext cx="5295600" cy="21489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12700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bl" dir="2700000" dist="19050">
                <a:srgbClr val="000000">
                  <a:alpha val="1176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</p:txBody>
        </p:sp>
        <p:sp>
          <p:nvSpPr>
            <p:cNvPr id="59" name="Google Shape;59;g3b783f0365d_0_7"/>
            <p:cNvSpPr/>
            <p:nvPr/>
          </p:nvSpPr>
          <p:spPr>
            <a:xfrm>
              <a:off x="640080" y="4069080"/>
              <a:ext cx="73200" cy="2148900"/>
            </a:xfrm>
            <a:prstGeom prst="rect">
              <a:avLst/>
            </a:prstGeom>
            <a:solidFill>
              <a:srgbClr val="0EA5E9"/>
            </a:solidFill>
            <a:ln cap="flat" cmpd="sng" w="12700">
              <a:solidFill>
                <a:srgbClr val="0EA5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</p:txBody>
        </p:sp>
        <p:sp>
          <p:nvSpPr>
            <p:cNvPr id="60" name="Google Shape;60;g3b783f0365d_0_7"/>
            <p:cNvSpPr/>
            <p:nvPr/>
          </p:nvSpPr>
          <p:spPr>
            <a:xfrm>
              <a:off x="841248" y="4233672"/>
              <a:ext cx="4975800" cy="32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11827"/>
                </a:buClr>
                <a:buSzPts val="1600"/>
                <a:buFont typeface="Calibri"/>
                <a:buNone/>
              </a:pPr>
              <a:r>
                <a:rPr b="1" i="0" lang="en-US" sz="1900" u="none" cap="none" strike="noStrike">
                  <a:solidFill>
                    <a:srgbClr val="111827"/>
                  </a:solidFill>
                </a:rPr>
                <a:t>3) Omics &amp; bioinformatics</a:t>
              </a:r>
              <a:endParaRPr i="0" sz="1900" u="none" cap="none" strike="noStrike">
                <a:solidFill>
                  <a:srgbClr val="000000"/>
                </a:solidFill>
              </a:endParaRPr>
            </a:p>
          </p:txBody>
        </p:sp>
        <p:sp>
          <p:nvSpPr>
            <p:cNvPr id="61" name="Google Shape;61;g3b783f0365d_0_7"/>
            <p:cNvSpPr/>
            <p:nvPr/>
          </p:nvSpPr>
          <p:spPr>
            <a:xfrm>
              <a:off x="859525" y="4586700"/>
              <a:ext cx="5076300" cy="153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266700" lvl="0" marL="228600" marR="0" rtl="0" algn="l">
                <a:spcBef>
                  <a:spcPts val="0"/>
                </a:spcBef>
                <a:spcAft>
                  <a:spcPts val="0"/>
                </a:spcAft>
                <a:buClr>
                  <a:srgbClr val="374151"/>
                </a:buClr>
                <a:buSzPts val="1900"/>
                <a:buChar char="•"/>
              </a:pPr>
              <a:r>
                <a:rPr i="0" lang="en-US" sz="1900" u="none" cap="none" strike="noStrike">
                  <a:solidFill>
                    <a:srgbClr val="374151"/>
                  </a:solidFill>
                </a:rPr>
                <a:t>Bioconductor: RNA-seq, microarray, single-cell</a:t>
              </a:r>
              <a:endParaRPr i="0" sz="1900" u="none" cap="none" strike="noStrike">
                <a:solidFill>
                  <a:srgbClr val="000000"/>
                </a:solidFill>
              </a:endParaRPr>
            </a:p>
            <a:p>
              <a:pPr indent="-266700" lvl="0" marL="228600" marR="0" rtl="0" algn="l">
                <a:spcBef>
                  <a:spcPts val="400"/>
                </a:spcBef>
                <a:spcAft>
                  <a:spcPts val="0"/>
                </a:spcAft>
                <a:buClr>
                  <a:srgbClr val="374151"/>
                </a:buClr>
                <a:buSzPts val="1900"/>
                <a:buChar char="•"/>
              </a:pPr>
              <a:r>
                <a:rPr i="0" lang="en-US" sz="1900" u="none" cap="none" strike="noStrike">
                  <a:solidFill>
                    <a:srgbClr val="374151"/>
                  </a:solidFill>
                </a:rPr>
                <a:t>Hạ tầng dữ liệu chuẩn hoá (SummarizedExperiment, …)</a:t>
              </a:r>
              <a:endParaRPr i="0" sz="1900" u="none" cap="none" strike="noStrike">
                <a:solidFill>
                  <a:srgbClr val="000000"/>
                </a:solidFill>
              </a:endParaRPr>
            </a:p>
            <a:p>
              <a:pPr indent="-266700" lvl="0" marL="228600" marR="0" rtl="0" algn="l">
                <a:spcBef>
                  <a:spcPts val="400"/>
                </a:spcBef>
                <a:spcAft>
                  <a:spcPts val="0"/>
                </a:spcAft>
                <a:buClr>
                  <a:srgbClr val="374151"/>
                </a:buClr>
                <a:buSzPts val="1900"/>
                <a:buChar char="•"/>
              </a:pPr>
              <a:r>
                <a:rPr i="0" lang="en-US" sz="1900" u="none" cap="none" strike="noStrike">
                  <a:solidFill>
                    <a:srgbClr val="374151"/>
                  </a:solidFill>
                </a:rPr>
                <a:t>Vignettes giúp tái lập workflow</a:t>
              </a:r>
              <a:endParaRPr i="0" sz="1900" u="none" cap="none" strike="noStrike">
                <a:solidFill>
                  <a:srgbClr val="000000"/>
                </a:solidFill>
              </a:endParaRPr>
            </a:p>
          </p:txBody>
        </p:sp>
        <p:sp>
          <p:nvSpPr>
            <p:cNvPr id="62" name="Google Shape;62;g3b783f0365d_0_7"/>
            <p:cNvSpPr/>
            <p:nvPr/>
          </p:nvSpPr>
          <p:spPr>
            <a:xfrm>
              <a:off x="6255868" y="4069080"/>
              <a:ext cx="5295600" cy="21489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12700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bl" dir="2700000" dist="19050">
                <a:srgbClr val="000000">
                  <a:alpha val="1176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</p:txBody>
        </p:sp>
        <p:sp>
          <p:nvSpPr>
            <p:cNvPr id="63" name="Google Shape;63;g3b783f0365d_0_7"/>
            <p:cNvSpPr/>
            <p:nvPr/>
          </p:nvSpPr>
          <p:spPr>
            <a:xfrm>
              <a:off x="6255868" y="4069080"/>
              <a:ext cx="73200" cy="2148900"/>
            </a:xfrm>
            <a:prstGeom prst="rect">
              <a:avLst/>
            </a:prstGeom>
            <a:solidFill>
              <a:srgbClr val="059669"/>
            </a:solidFill>
            <a:ln cap="flat" cmpd="sng" w="12700">
              <a:solidFill>
                <a:srgbClr val="0596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/>
            </a:p>
          </p:txBody>
        </p:sp>
        <p:sp>
          <p:nvSpPr>
            <p:cNvPr id="64" name="Google Shape;64;g3b783f0365d_0_7"/>
            <p:cNvSpPr/>
            <p:nvPr/>
          </p:nvSpPr>
          <p:spPr>
            <a:xfrm>
              <a:off x="6457036" y="4233672"/>
              <a:ext cx="4975800" cy="32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11827"/>
                </a:buClr>
                <a:buSzPts val="1600"/>
                <a:buFont typeface="Calibri"/>
                <a:buNone/>
              </a:pPr>
              <a:r>
                <a:rPr b="1" i="0" lang="en-US" sz="1900" u="none" cap="none" strike="noStrike">
                  <a:solidFill>
                    <a:srgbClr val="111827"/>
                  </a:solidFill>
                </a:rPr>
                <a:t>4) Báo cáo &amp; triển khai</a:t>
              </a:r>
              <a:endParaRPr i="0" sz="1900" u="none" cap="none" strike="noStrike">
                <a:solidFill>
                  <a:srgbClr val="000000"/>
                </a:solidFill>
              </a:endParaRPr>
            </a:p>
          </p:txBody>
        </p:sp>
        <p:sp>
          <p:nvSpPr>
            <p:cNvPr id="65" name="Google Shape;65;g3b783f0365d_0_7"/>
            <p:cNvSpPr/>
            <p:nvPr/>
          </p:nvSpPr>
          <p:spPr>
            <a:xfrm>
              <a:off x="6475324" y="4636008"/>
              <a:ext cx="4929900" cy="12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266700" lvl="0" marL="228600" marR="0" rtl="0" algn="l">
                <a:spcBef>
                  <a:spcPts val="0"/>
                </a:spcBef>
                <a:spcAft>
                  <a:spcPts val="0"/>
                </a:spcAft>
                <a:buClr>
                  <a:srgbClr val="374151"/>
                </a:buClr>
                <a:buSzPts val="1900"/>
                <a:buChar char="•"/>
              </a:pPr>
              <a:r>
                <a:rPr i="0" lang="en-US" sz="1900" u="none" cap="none" strike="noStrike">
                  <a:solidFill>
                    <a:srgbClr val="374151"/>
                  </a:solidFill>
                </a:rPr>
                <a:t>R Markdown/Quarto: báo cáo &amp; slide tái lập</a:t>
              </a:r>
              <a:endParaRPr i="0" sz="1900" u="none" cap="none" strike="noStrike">
                <a:solidFill>
                  <a:srgbClr val="000000"/>
                </a:solidFill>
              </a:endParaRPr>
            </a:p>
            <a:p>
              <a:pPr indent="-266700" lvl="0" marL="228600" marR="0" rtl="0" algn="l">
                <a:spcBef>
                  <a:spcPts val="400"/>
                </a:spcBef>
                <a:spcAft>
                  <a:spcPts val="0"/>
                </a:spcAft>
                <a:buClr>
                  <a:srgbClr val="374151"/>
                </a:buClr>
                <a:buSzPts val="1900"/>
                <a:buChar char="•"/>
              </a:pPr>
              <a:r>
                <a:rPr i="0" lang="en-US" sz="1900" u="none" cap="none" strike="noStrike">
                  <a:solidFill>
                    <a:srgbClr val="374151"/>
                  </a:solidFill>
                </a:rPr>
                <a:t>Shiny: dashboard/ứng dụng tương tác</a:t>
              </a:r>
              <a:endParaRPr i="0" sz="1900" u="none" cap="none" strike="noStrike">
                <a:solidFill>
                  <a:srgbClr val="000000"/>
                </a:solidFill>
              </a:endParaRPr>
            </a:p>
            <a:p>
              <a:pPr indent="-266700" lvl="0" marL="228600" marR="0" rtl="0" algn="l">
                <a:spcBef>
                  <a:spcPts val="400"/>
                </a:spcBef>
                <a:spcAft>
                  <a:spcPts val="0"/>
                </a:spcAft>
                <a:buClr>
                  <a:srgbClr val="374151"/>
                </a:buClr>
                <a:buSzPts val="1900"/>
                <a:buChar char="•"/>
              </a:pPr>
              <a:r>
                <a:rPr i="0" lang="en-US" sz="1900" u="none" cap="none" strike="noStrike">
                  <a:solidFill>
                    <a:srgbClr val="374151"/>
                  </a:solidFill>
                </a:rPr>
                <a:t>Chia sẻ: Git + dữ liệu + môi trường</a:t>
              </a:r>
              <a:endParaRPr i="0" sz="1900" u="none" cap="none" strike="noStrike">
                <a:solidFill>
                  <a:srgbClr val="000000"/>
                </a:solidFill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g3b783f0365d_0_86"/>
          <p:cNvPicPr preferRelativeResize="0"/>
          <p:nvPr/>
        </p:nvPicPr>
        <p:blipFill rotWithShape="1">
          <a:blip r:embed="rId3">
            <a:alphaModFix/>
          </a:blip>
          <a:srcRect b="0" l="0" r="30148" t="0"/>
          <a:stretch/>
        </p:blipFill>
        <p:spPr>
          <a:xfrm>
            <a:off x="218082" y="201675"/>
            <a:ext cx="5275725" cy="639995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g3b783f0365d_0_86"/>
          <p:cNvSpPr txBox="1"/>
          <p:nvPr/>
        </p:nvSpPr>
        <p:spPr>
          <a:xfrm>
            <a:off x="5633451" y="229384"/>
            <a:ext cx="6307800" cy="631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2C6FF"/>
                </a:solidFill>
                <a:latin typeface="Courier New"/>
                <a:ea typeface="Courier New"/>
                <a:cs typeface="Courier New"/>
                <a:sym typeface="Courier New"/>
              </a:rPr>
              <a:t>library</a:t>
            </a:r>
            <a:r>
              <a:rPr lang="en-US" sz="12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2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ggplot2</a:t>
            </a:r>
            <a:r>
              <a:rPr lang="en-US" sz="12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2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df &lt;- read.csv</a:t>
            </a:r>
            <a:r>
              <a:rPr lang="en-US" sz="12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2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"/content/BÀI_TẬP_1_sheet2.csv"</a:t>
            </a:r>
            <a:r>
              <a:rPr lang="en-US" sz="12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2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header = </a:t>
            </a:r>
            <a:r>
              <a:rPr lang="en-US" sz="120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lang="en-US" sz="12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2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check.names = </a:t>
            </a:r>
            <a:r>
              <a:rPr lang="en-US" sz="120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r>
              <a:rPr lang="en-US" sz="12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2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2B76C"/>
                </a:solidFill>
                <a:latin typeface="Courier New"/>
                <a:ea typeface="Courier New"/>
                <a:cs typeface="Courier New"/>
                <a:sym typeface="Courier New"/>
              </a:rPr>
              <a:t># Tính p-value (t-test 2 nhóm)</a:t>
            </a:r>
            <a:endParaRPr sz="1200">
              <a:solidFill>
                <a:srgbClr val="82B76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test_res &lt;- t.test</a:t>
            </a:r>
            <a:r>
              <a:rPr lang="en-US" sz="12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2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Weight ~ SEX</a:t>
            </a:r>
            <a:r>
              <a:rPr lang="en-US" sz="12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12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data = df</a:t>
            </a:r>
            <a:r>
              <a:rPr lang="en-US" sz="12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2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p_val &lt;- test_res$p.value</a:t>
            </a:r>
            <a:endParaRPr sz="120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b &lt;- ggplot</a:t>
            </a:r>
            <a:r>
              <a:rPr lang="en-US" sz="12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2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lang="en-US" sz="12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12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aes</a:t>
            </a:r>
            <a:r>
              <a:rPr lang="en-US" sz="12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2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x = SEX</a:t>
            </a:r>
            <a:r>
              <a:rPr lang="en-US" sz="12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12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y = Weight</a:t>
            </a:r>
            <a:r>
              <a:rPr lang="en-US" sz="12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))</a:t>
            </a:r>
            <a:r>
              <a:rPr lang="en-US" sz="12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+</a:t>
            </a:r>
            <a:endParaRPr sz="120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geom_boxplot</a:t>
            </a:r>
            <a:r>
              <a:rPr lang="en-US" sz="12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2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staplewidth = </a:t>
            </a:r>
            <a:r>
              <a:rPr lang="en-US" sz="120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12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12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fill = </a:t>
            </a:r>
            <a:r>
              <a:rPr lang="en-US" sz="12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"violet"</a:t>
            </a:r>
            <a:r>
              <a:rPr lang="en-US" sz="12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12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color = </a:t>
            </a:r>
            <a:r>
              <a:rPr lang="en-US" sz="12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"black"</a:t>
            </a:r>
            <a:r>
              <a:rPr lang="en-US" sz="12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12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+</a:t>
            </a:r>
            <a:endParaRPr sz="120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geom_jitter</a:t>
            </a:r>
            <a:r>
              <a:rPr lang="en-US" sz="12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sz="12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width  = </a:t>
            </a:r>
            <a:r>
              <a:rPr lang="en-US" sz="120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US" sz="12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200">
              <a:solidFill>
                <a:srgbClr val="82B76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size   = </a:t>
            </a:r>
            <a:r>
              <a:rPr lang="en-US" sz="120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r>
              <a:rPr lang="en-US" sz="12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200">
              <a:solidFill>
                <a:srgbClr val="82B76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alpha  = </a:t>
            </a:r>
            <a:r>
              <a:rPr lang="en-US" sz="120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12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200">
              <a:solidFill>
                <a:srgbClr val="82B76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color  = </a:t>
            </a:r>
            <a:r>
              <a:rPr lang="en-US" sz="12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"brown"</a:t>
            </a:r>
            <a:endParaRPr sz="1200">
              <a:solidFill>
                <a:srgbClr val="82B76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2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12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+</a:t>
            </a:r>
            <a:endParaRPr sz="120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annotate</a:t>
            </a:r>
            <a:r>
              <a:rPr lang="en-US" sz="12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2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"text"</a:t>
            </a:r>
            <a:r>
              <a:rPr lang="en-US" sz="12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2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x = </a:t>
            </a:r>
            <a:r>
              <a:rPr lang="en-US" sz="120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1.5</a:t>
            </a:r>
            <a:r>
              <a:rPr lang="en-US" sz="12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2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y = max</a:t>
            </a:r>
            <a:r>
              <a:rPr lang="en-US" sz="12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2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df$Weight</a:t>
            </a:r>
            <a:r>
              <a:rPr lang="en-US" sz="12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12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* </a:t>
            </a:r>
            <a:r>
              <a:rPr lang="en-US" sz="120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12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2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label = paste0</a:t>
            </a:r>
            <a:r>
              <a:rPr lang="en-US" sz="12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2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"p = "</a:t>
            </a:r>
            <a:r>
              <a:rPr lang="en-US" sz="12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12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signif</a:t>
            </a:r>
            <a:r>
              <a:rPr lang="en-US" sz="12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2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p_val</a:t>
            </a:r>
            <a:r>
              <a:rPr lang="en-US" sz="12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12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20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n-US" sz="12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)),</a:t>
            </a:r>
            <a:endParaRPr sz="12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size = </a:t>
            </a:r>
            <a:r>
              <a:rPr lang="en-US" sz="120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8</a:t>
            </a:r>
            <a:r>
              <a:rPr lang="en-US" sz="12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12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+</a:t>
            </a:r>
            <a:endParaRPr sz="120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theme</a:t>
            </a:r>
            <a:r>
              <a:rPr lang="en-US" sz="12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sz="12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axis.text.y = element_text</a:t>
            </a:r>
            <a:r>
              <a:rPr lang="en-US" sz="12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2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size = </a:t>
            </a:r>
            <a:r>
              <a:rPr lang="en-US" sz="120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20</a:t>
            </a:r>
            <a:r>
              <a:rPr lang="en-US" sz="12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),</a:t>
            </a:r>
            <a:endParaRPr sz="12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axis.text.x = element_text</a:t>
            </a:r>
            <a:r>
              <a:rPr lang="en-US" sz="12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2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size = </a:t>
            </a:r>
            <a:r>
              <a:rPr lang="en-US" sz="120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20</a:t>
            </a:r>
            <a:r>
              <a:rPr lang="en-US" sz="12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2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2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2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endParaRPr sz="120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b783f0365d_0_16"/>
          <p:cNvSpPr/>
          <p:nvPr/>
        </p:nvSpPr>
        <p:spPr>
          <a:xfrm>
            <a:off x="721952" y="1333000"/>
            <a:ext cx="11032800" cy="40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200"/>
              <a:buFont typeface="Calibri"/>
              <a:buNone/>
            </a:pPr>
            <a:r>
              <a:rPr i="0" lang="en-US" sz="2200" u="none" cap="none" strike="noStrike">
                <a:solidFill>
                  <a:srgbClr val="111111"/>
                </a:solidFill>
              </a:rPr>
              <a:t>• </a:t>
            </a:r>
            <a:r>
              <a:rPr b="1" i="0" lang="en-US" sz="2200" u="none" cap="none" strike="noStrike">
                <a:solidFill>
                  <a:srgbClr val="111111"/>
                </a:solidFill>
              </a:rPr>
              <a:t>Base R</a:t>
            </a:r>
            <a:r>
              <a:rPr i="0" lang="en-US" sz="2200" u="none" cap="none" strike="noStrike">
                <a:solidFill>
                  <a:srgbClr val="111111"/>
                </a:solidFill>
              </a:rPr>
              <a:t>: tập các hàm và cấu trúc dữ liệu mặc định sau khi cài đặt.</a:t>
            </a:r>
            <a:endParaRPr sz="2200">
              <a:solidFill>
                <a:srgbClr val="11111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200"/>
              <a:buFont typeface="Calibri"/>
              <a:buNone/>
            </a:pPr>
            <a:r>
              <a:rPr lang="en-US" sz="2200">
                <a:solidFill>
                  <a:srgbClr val="111111"/>
                </a:solidFill>
              </a:rPr>
              <a:t>• </a:t>
            </a:r>
            <a:r>
              <a:rPr lang="en-US" sz="2200">
                <a:solidFill>
                  <a:srgbClr val="111111"/>
                </a:solidFill>
              </a:rPr>
              <a:t>R vận hành qua gõ lệnh (trong R, lệnh = hàm = function)</a:t>
            </a:r>
            <a:br>
              <a:rPr i="0" lang="en-US" sz="2200" u="none" cap="none" strike="noStrike">
                <a:solidFill>
                  <a:srgbClr val="111111"/>
                </a:solidFill>
              </a:rPr>
            </a:br>
            <a:r>
              <a:rPr i="0" lang="en-US" sz="2200" u="none" cap="none" strike="noStrike">
                <a:solidFill>
                  <a:srgbClr val="111111"/>
                </a:solidFill>
              </a:rPr>
              <a:t>• </a:t>
            </a:r>
            <a:r>
              <a:rPr b="1" i="0" lang="en-US" sz="2200" u="none" cap="none" strike="noStrike">
                <a:solidFill>
                  <a:srgbClr val="111111"/>
                </a:solidFill>
              </a:rPr>
              <a:t>Packages</a:t>
            </a:r>
            <a:r>
              <a:rPr i="0" lang="en-US" sz="2200" u="none" cap="none" strike="noStrike">
                <a:solidFill>
                  <a:srgbClr val="111111"/>
                </a:solidFill>
              </a:rPr>
              <a:t>: mở rộng tính năng (vd: tidyverse, ggplot2, survival, Bioconductor).</a:t>
            </a:r>
            <a:br>
              <a:rPr i="0" lang="en-US" sz="2200" u="none" cap="none" strike="noStrike">
                <a:solidFill>
                  <a:srgbClr val="111111"/>
                </a:solidFill>
              </a:rPr>
            </a:br>
            <a:r>
              <a:rPr i="0" lang="en-US" sz="2200" u="none" cap="none" strike="noStrike">
                <a:solidFill>
                  <a:srgbClr val="111111"/>
                </a:solidFill>
              </a:rPr>
              <a:t>• </a:t>
            </a:r>
            <a:r>
              <a:rPr lang="en-US" sz="2200">
                <a:solidFill>
                  <a:srgbClr val="111111"/>
                </a:solidFill>
              </a:rPr>
              <a:t>R vận hành dựa trên 'đối tượng': </a:t>
            </a:r>
            <a:r>
              <a:rPr b="1" lang="en-US" sz="2200">
                <a:solidFill>
                  <a:srgbClr val="111111"/>
                </a:solidFill>
              </a:rPr>
              <a:t>object </a:t>
            </a:r>
            <a:r>
              <a:rPr lang="en-US" sz="2200">
                <a:solidFill>
                  <a:srgbClr val="111111"/>
                </a:solidFill>
              </a:rPr>
              <a:t>(bao gồm dữ liệu, biến số, hình ảnh, bảng, v.v.)</a:t>
            </a:r>
            <a:endParaRPr sz="2200">
              <a:solidFill>
                <a:srgbClr val="11111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rgbClr val="111111"/>
                </a:solidFill>
              </a:rPr>
              <a:t>• Dữ liệu (dataset) trong R gọi là </a:t>
            </a:r>
            <a:r>
              <a:rPr b="1" lang="en-US" sz="2200">
                <a:solidFill>
                  <a:srgbClr val="111111"/>
                </a:solidFill>
              </a:rPr>
              <a:t>data.frame</a:t>
            </a:r>
            <a:endParaRPr b="1" sz="2200">
              <a:solidFill>
                <a:srgbClr val="11111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rgbClr val="111111"/>
                </a:solidFill>
              </a:rPr>
              <a:t>• Mỗi data frame có nhiều biến số gọi là </a:t>
            </a:r>
            <a:r>
              <a:rPr b="1" lang="en-US" sz="2200">
                <a:solidFill>
                  <a:srgbClr val="111111"/>
                </a:solidFill>
              </a:rPr>
              <a:t>variable</a:t>
            </a:r>
            <a:endParaRPr b="1" sz="2200">
              <a:solidFill>
                <a:srgbClr val="11111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rgbClr val="111111"/>
                </a:solidFill>
              </a:rPr>
              <a:t>• </a:t>
            </a:r>
            <a:r>
              <a:rPr b="1" lang="en-US" sz="2200">
                <a:solidFill>
                  <a:srgbClr val="111111"/>
                </a:solidFill>
              </a:rPr>
              <a:t>Function</a:t>
            </a:r>
            <a:r>
              <a:rPr lang="en-US" sz="2200">
                <a:solidFill>
                  <a:srgbClr val="111111"/>
                </a:solidFill>
              </a:rPr>
              <a:t> phải có </a:t>
            </a:r>
            <a:r>
              <a:rPr b="1" lang="en-US" sz="2200">
                <a:solidFill>
                  <a:srgbClr val="111111"/>
                </a:solidFill>
              </a:rPr>
              <a:t>arguments </a:t>
            </a:r>
            <a:r>
              <a:rPr lang="en-US" sz="2200">
                <a:solidFill>
                  <a:srgbClr val="111111"/>
                </a:solidFill>
              </a:rPr>
              <a:t>/ đối số (đầu vào)</a:t>
            </a:r>
            <a:endParaRPr sz="2200">
              <a:solidFill>
                <a:srgbClr val="11111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200"/>
              <a:buFont typeface="Calibri"/>
              <a:buNone/>
            </a:pPr>
            <a:br>
              <a:rPr i="0" lang="en-US" sz="2200" u="none" cap="none" strike="noStrike">
                <a:solidFill>
                  <a:srgbClr val="111111"/>
                </a:solidFill>
              </a:rPr>
            </a:br>
            <a:endParaRPr i="0" sz="2200" u="none" cap="none" strike="noStrike">
              <a:solidFill>
                <a:srgbClr val="000000"/>
              </a:solidFill>
            </a:endParaRPr>
          </a:p>
        </p:txBody>
      </p:sp>
      <p:sp>
        <p:nvSpPr>
          <p:cNvPr id="79" name="Google Shape;79;g3b783f0365d_0_16"/>
          <p:cNvSpPr/>
          <p:nvPr/>
        </p:nvSpPr>
        <p:spPr>
          <a:xfrm>
            <a:off x="-16433" y="4450710"/>
            <a:ext cx="12191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C4587"/>
                </a:solidFill>
              </a:rPr>
              <a:t>R = Base + Packages</a:t>
            </a:r>
            <a:endParaRPr i="0" sz="2400" u="none" cap="none" strike="noStrike">
              <a:solidFill>
                <a:srgbClr val="1C4587"/>
              </a:solidFill>
            </a:endParaRPr>
          </a:p>
        </p:txBody>
      </p:sp>
      <p:grpSp>
        <p:nvGrpSpPr>
          <p:cNvPr id="80" name="Google Shape;80;g3b783f0365d_0_16"/>
          <p:cNvGrpSpPr/>
          <p:nvPr/>
        </p:nvGrpSpPr>
        <p:grpSpPr>
          <a:xfrm>
            <a:off x="806477" y="5183823"/>
            <a:ext cx="10545900" cy="1142940"/>
            <a:chOff x="806477" y="4674373"/>
            <a:chExt cx="10545900" cy="1142940"/>
          </a:xfrm>
        </p:grpSpPr>
        <p:sp>
          <p:nvSpPr>
            <p:cNvPr id="81" name="Google Shape;81;g3b783f0365d_0_16"/>
            <p:cNvSpPr/>
            <p:nvPr/>
          </p:nvSpPr>
          <p:spPr>
            <a:xfrm>
              <a:off x="806477" y="4674373"/>
              <a:ext cx="10545900" cy="32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11111"/>
                </a:buClr>
                <a:buSzPts val="2000"/>
                <a:buFont typeface="Calibri"/>
                <a:buNone/>
              </a:pPr>
              <a:r>
                <a:rPr b="1" i="0" lang="en-US" sz="2000" u="none" cap="none" strike="noStrike">
                  <a:solidFill>
                    <a:srgbClr val="111111"/>
                  </a:solidFill>
                </a:rPr>
                <a:t>Ví dụ: </a:t>
              </a:r>
              <a:r>
                <a:rPr i="0" lang="en-US" sz="2000" u="none" cap="none" strike="noStrike">
                  <a:solidFill>
                    <a:srgbClr val="111111"/>
                  </a:solidFill>
                </a:rPr>
                <a:t>cài và </a:t>
              </a:r>
              <a:r>
                <a:rPr lang="en-US" sz="2000">
                  <a:solidFill>
                    <a:srgbClr val="111111"/>
                  </a:solidFill>
                </a:rPr>
                <a:t>gọi</a:t>
              </a:r>
              <a:r>
                <a:rPr i="0" lang="en-US" sz="2000" u="none" cap="none" strike="noStrike">
                  <a:solidFill>
                    <a:srgbClr val="111111"/>
                  </a:solidFill>
                </a:rPr>
                <a:t> package để phân tích dữ liệu</a:t>
              </a:r>
              <a:endParaRPr i="0" sz="2000" u="none" cap="none" strike="noStrike">
                <a:solidFill>
                  <a:srgbClr val="000000"/>
                </a:solidFill>
              </a:endParaRPr>
            </a:p>
          </p:txBody>
        </p:sp>
        <p:sp>
          <p:nvSpPr>
            <p:cNvPr id="82" name="Google Shape;82;g3b783f0365d_0_16"/>
            <p:cNvSpPr/>
            <p:nvPr/>
          </p:nvSpPr>
          <p:spPr>
            <a:xfrm>
              <a:off x="806477" y="4994413"/>
              <a:ext cx="10545900" cy="82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A1B9A"/>
                </a:buClr>
                <a:buSzPts val="2000"/>
                <a:buFont typeface="Consolas"/>
                <a:buNone/>
              </a:pPr>
              <a:r>
                <a:rPr i="0" lang="en-US" sz="2000" u="none" cap="none" strike="noStrike">
                  <a:solidFill>
                    <a:srgbClr val="6A1B9A"/>
                  </a:solidFill>
                </a:rPr>
                <a:t>install.packages("</a:t>
              </a:r>
              <a:r>
                <a:rPr lang="en-US" sz="2000">
                  <a:solidFill>
                    <a:srgbClr val="6A1B9A"/>
                  </a:solidFill>
                </a:rPr>
                <a:t>ggplot2</a:t>
              </a:r>
              <a:r>
                <a:rPr i="0" lang="en-US" sz="2000" u="none" cap="none" strike="noStrike">
                  <a:solidFill>
                    <a:srgbClr val="6A1B9A"/>
                  </a:solidFill>
                </a:rPr>
                <a:t>")</a:t>
              </a:r>
              <a:endParaRPr i="0" sz="2000" u="none" cap="none" strike="noStrike">
                <a:solidFill>
                  <a:srgbClr val="000000"/>
                </a:solidFill>
              </a:endParaRPr>
            </a:p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A1B9A"/>
                </a:buClr>
                <a:buSzPts val="2000"/>
                <a:buFont typeface="Consolas"/>
                <a:buNone/>
              </a:pPr>
              <a:r>
                <a:rPr i="0" lang="en-US" sz="2000" u="none" cap="none" strike="noStrike">
                  <a:solidFill>
                    <a:srgbClr val="6A1B9A"/>
                  </a:solidFill>
                </a:rPr>
                <a:t>library(</a:t>
              </a:r>
              <a:r>
                <a:rPr lang="en-US" sz="2000">
                  <a:solidFill>
                    <a:srgbClr val="6A1B9A"/>
                  </a:solidFill>
                </a:rPr>
                <a:t>ggplot2</a:t>
              </a:r>
              <a:r>
                <a:rPr i="0" lang="en-US" sz="2000" u="none" cap="none" strike="noStrike">
                  <a:solidFill>
                    <a:srgbClr val="6A1B9A"/>
                  </a:solidFill>
                </a:rPr>
                <a:t>)</a:t>
              </a:r>
              <a:endParaRPr i="0" sz="2000" u="none" cap="none" strike="noStrike">
                <a:solidFill>
                  <a:srgbClr val="000000"/>
                </a:solidFill>
              </a:endParaRPr>
            </a:p>
          </p:txBody>
        </p:sp>
      </p:grpSp>
      <p:sp>
        <p:nvSpPr>
          <p:cNvPr id="83" name="Google Shape;83;g3b783f0365d_0_16"/>
          <p:cNvSpPr/>
          <p:nvPr/>
        </p:nvSpPr>
        <p:spPr>
          <a:xfrm>
            <a:off x="150" y="0"/>
            <a:ext cx="12192000" cy="919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00">
                <a:solidFill>
                  <a:srgbClr val="1155CC"/>
                </a:solidFill>
              </a:rPr>
              <a:t>CÁC THÀNH PHẦN CHÍNH TRONG</a:t>
            </a:r>
            <a:r>
              <a:rPr b="1" lang="en-US" sz="3700">
                <a:solidFill>
                  <a:srgbClr val="1155CC"/>
                </a:solidFill>
              </a:rPr>
              <a:t> NGÔN NGỮ R</a:t>
            </a:r>
            <a:endParaRPr>
              <a:solidFill>
                <a:srgbClr val="1155CC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783f0365d_0_33"/>
          <p:cNvSpPr/>
          <p:nvPr/>
        </p:nvSpPr>
        <p:spPr>
          <a:xfrm>
            <a:off x="150" y="0"/>
            <a:ext cx="12192000" cy="919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00">
                <a:solidFill>
                  <a:srgbClr val="1155CC"/>
                </a:solidFill>
              </a:rPr>
              <a:t>Dữ liệu nghiên cứu dạng excel (csv format)</a:t>
            </a:r>
            <a:endParaRPr>
              <a:solidFill>
                <a:srgbClr val="1155CC"/>
              </a:solidFill>
            </a:endParaRPr>
          </a:p>
        </p:txBody>
      </p:sp>
      <p:pic>
        <p:nvPicPr>
          <p:cNvPr id="90" name="Google Shape;90;g3b783f0365d_0_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550" y="1643375"/>
            <a:ext cx="11887201" cy="361702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g3b783f0365d_0_33"/>
          <p:cNvSpPr txBox="1"/>
          <p:nvPr/>
        </p:nvSpPr>
        <p:spPr>
          <a:xfrm>
            <a:off x="262825" y="1043075"/>
            <a:ext cx="5937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2222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-US" sz="2700">
                <a:solidFill>
                  <a:srgbClr val="202124"/>
                </a:solidFill>
                <a:highlight>
                  <a:srgbClr val="FFFFFF"/>
                </a:highlight>
              </a:rPr>
              <a:t>Heart Failure Prediction Dataset</a:t>
            </a:r>
            <a:endParaRPr b="1" sz="2700">
              <a:solidFill>
                <a:srgbClr val="202124"/>
              </a:solidFill>
              <a:highlight>
                <a:srgbClr val="FFFFFF"/>
              </a:highlight>
            </a:endParaRPr>
          </a:p>
        </p:txBody>
      </p:sp>
      <p:sp>
        <p:nvSpPr>
          <p:cNvPr id="92" name="Google Shape;92;g3b783f0365d_0_33"/>
          <p:cNvSpPr txBox="1"/>
          <p:nvPr/>
        </p:nvSpPr>
        <p:spPr>
          <a:xfrm>
            <a:off x="418850" y="5455625"/>
            <a:ext cx="6676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</a:rPr>
              <a:t>Link project: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u="sng">
                <a:solidFill>
                  <a:srgbClr val="1155CC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https://www.kaggle.com/datasets/fedesoriano/heart-failure-prediction/data</a:t>
            </a:r>
            <a:endParaRPr sz="1500">
              <a:solidFill>
                <a:srgbClr val="1155CC"/>
              </a:solidFill>
            </a:endParaRPr>
          </a:p>
        </p:txBody>
      </p:sp>
      <p:sp>
        <p:nvSpPr>
          <p:cNvPr id="93" name="Google Shape;93;g3b783f0365d_0_33"/>
          <p:cNvSpPr txBox="1"/>
          <p:nvPr/>
        </p:nvSpPr>
        <p:spPr>
          <a:xfrm>
            <a:off x="8672300" y="5836275"/>
            <a:ext cx="2554200" cy="5091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DC2626"/>
                </a:solidFill>
              </a:rPr>
              <a:t>Làm sao đọc vào R?</a:t>
            </a:r>
            <a:endParaRPr sz="2000">
              <a:solidFill>
                <a:srgbClr val="DC2626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b783f0365d_0_80"/>
          <p:cNvSpPr/>
          <p:nvPr/>
        </p:nvSpPr>
        <p:spPr>
          <a:xfrm>
            <a:off x="150" y="0"/>
            <a:ext cx="12192000" cy="919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00">
                <a:solidFill>
                  <a:srgbClr val="1155CC"/>
                </a:solidFill>
              </a:rPr>
              <a:t>Đọc dữ liệu vào R</a:t>
            </a:r>
            <a:endParaRPr>
              <a:solidFill>
                <a:srgbClr val="1155CC"/>
              </a:solidFill>
            </a:endParaRPr>
          </a:p>
        </p:txBody>
      </p:sp>
      <p:sp>
        <p:nvSpPr>
          <p:cNvPr id="100" name="Google Shape;100;g3b783f0365d_0_80"/>
          <p:cNvSpPr txBox="1"/>
          <p:nvPr/>
        </p:nvSpPr>
        <p:spPr>
          <a:xfrm>
            <a:off x="237384" y="1084125"/>
            <a:ext cx="11712000" cy="1403700"/>
          </a:xfrm>
          <a:prstGeom prst="rect">
            <a:avLst/>
          </a:prstGeom>
          <a:noFill/>
          <a:ln cap="flat" cmpd="sng" w="952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</a:rPr>
              <a:t>– Bước 1: </a:t>
            </a:r>
            <a:r>
              <a:rPr lang="en-US" sz="2400">
                <a:solidFill>
                  <a:schemeClr val="dk1"/>
                </a:solidFill>
              </a:rPr>
              <a:t>tìm đường link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</a:rPr>
              <a:t>– Bước 2: </a:t>
            </a:r>
            <a:r>
              <a:rPr lang="en-US" sz="2400">
                <a:solidFill>
                  <a:schemeClr val="dk1"/>
                </a:solidFill>
              </a:rPr>
              <a:t>dùng lệnh/hàm </a:t>
            </a: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read.csv</a:t>
            </a:r>
            <a:r>
              <a:rPr lang="en-US" sz="2400">
                <a:solidFill>
                  <a:schemeClr val="dk1"/>
                </a:solidFill>
              </a:rPr>
              <a:t> và đặt tên cho dữ liệu (ví dụ: </a:t>
            </a: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lang="en-US" sz="2400">
                <a:solidFill>
                  <a:schemeClr val="dk1"/>
                </a:solidFill>
              </a:rPr>
              <a:t>)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</a:rPr>
              <a:t>– Bước 3: </a:t>
            </a:r>
            <a:r>
              <a:rPr lang="en-US" sz="2400">
                <a:solidFill>
                  <a:schemeClr val="dk1"/>
                </a:solidFill>
              </a:rPr>
              <a:t>kiểm tra qua hàm </a:t>
            </a: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head(df)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1" name="Google Shape;101;g3b783f0365d_0_80"/>
          <p:cNvSpPr txBox="1"/>
          <p:nvPr/>
        </p:nvSpPr>
        <p:spPr>
          <a:xfrm>
            <a:off x="566700" y="2537111"/>
            <a:ext cx="8048100" cy="15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df &lt;- </a:t>
            </a:r>
            <a:r>
              <a:rPr lang="en-US" sz="16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lang="en-US" sz="16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ead.csv(</a:t>
            </a:r>
            <a:r>
              <a:rPr lang="en-US" sz="16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"/content/Heart_Data.csv"</a:t>
            </a:r>
            <a:r>
              <a:rPr lang="en-US" sz="16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6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38761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</a:t>
            </a:r>
            <a:r>
              <a:rPr lang="en-US" sz="1600">
                <a:solidFill>
                  <a:srgbClr val="38761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hoặc</a:t>
            </a:r>
            <a:endParaRPr sz="1600">
              <a:solidFill>
                <a:srgbClr val="38761D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library(lessR)</a:t>
            </a:r>
            <a:endParaRPr sz="16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df &lt;- Read(</a:t>
            </a:r>
            <a:r>
              <a:rPr lang="en-US" sz="16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"/content/Heart_Data.csv"</a:t>
            </a:r>
            <a:r>
              <a:rPr lang="en-US" sz="16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6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head (df)</a:t>
            </a:r>
            <a:endParaRPr sz="16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02" name="Google Shape;102;g3b783f0365d_0_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967" y="4033656"/>
            <a:ext cx="10696575" cy="266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b783f0365d_0_103"/>
          <p:cNvSpPr txBox="1"/>
          <p:nvPr/>
        </p:nvSpPr>
        <p:spPr>
          <a:xfrm>
            <a:off x="673138" y="3962597"/>
            <a:ext cx="107301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</a:rPr>
              <a:t>Data frame </a:t>
            </a:r>
            <a:r>
              <a:rPr lang="en-US" sz="2400">
                <a:solidFill>
                  <a:schemeClr val="dk1"/>
                </a:solidFill>
              </a:rPr>
              <a:t>(dataset) trong trường hợp này là </a:t>
            </a:r>
            <a:r>
              <a:rPr b="1" lang="en-US" sz="2400">
                <a:solidFill>
                  <a:schemeClr val="dk1"/>
                </a:solidFill>
              </a:rPr>
              <a:t>df</a:t>
            </a:r>
            <a:endParaRPr b="1"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</a:rPr>
              <a:t>Biến số </a:t>
            </a:r>
            <a:r>
              <a:rPr lang="en-US" sz="2400">
                <a:solidFill>
                  <a:schemeClr val="dk1"/>
                </a:solidFill>
              </a:rPr>
              <a:t>(variables): </a:t>
            </a:r>
            <a:r>
              <a:rPr b="1" lang="en-US" sz="2400">
                <a:solidFill>
                  <a:schemeClr val="dk1"/>
                </a:solidFill>
              </a:rPr>
              <a:t>cột của df</a:t>
            </a:r>
            <a:r>
              <a:rPr lang="en-US" sz="2400">
                <a:solidFill>
                  <a:schemeClr val="dk1"/>
                </a:solidFill>
              </a:rPr>
              <a:t>: </a:t>
            </a:r>
            <a:r>
              <a:rPr lang="en-US" sz="2400">
                <a:solidFill>
                  <a:schemeClr val="dk1"/>
                </a:solidFill>
              </a:rPr>
              <a:t>Age, Sex, ChestPainType, Cholesterol, …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109" name="Google Shape;109;g3b783f0365d_0_103"/>
          <p:cNvSpPr txBox="1"/>
          <p:nvPr/>
        </p:nvSpPr>
        <p:spPr>
          <a:xfrm>
            <a:off x="3819400" y="5368127"/>
            <a:ext cx="4437600" cy="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C2626"/>
                </a:solidFill>
              </a:rPr>
              <a:t>df này có bao nhiêu variables? có bao nhiêu samples?</a:t>
            </a:r>
            <a:endParaRPr sz="2400">
              <a:solidFill>
                <a:srgbClr val="DC2626"/>
              </a:solidFill>
            </a:endParaRPr>
          </a:p>
        </p:txBody>
      </p:sp>
      <p:pic>
        <p:nvPicPr>
          <p:cNvPr id="110" name="Google Shape;110;g3b783f0365d_0_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125" y="365952"/>
            <a:ext cx="11709751" cy="347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  <a:gradFill>
            <a:gsLst>
              <a:gs pos="0">
                <a:srgbClr val="73C4D9"/>
              </a:gs>
              <a:gs pos="50000">
                <a:srgbClr val="5AC1D8"/>
              </a:gs>
              <a:gs pos="100000">
                <a:srgbClr val="48AFC6"/>
              </a:gs>
            </a:gsLst>
            <a:lin ang="5400000" scaled="0"/>
          </a:gradFill>
          <a:ln>
            <a:noFill/>
          </a:ln>
          <a:effectLst>
            <a:outerShdw blurRad="57150" rotWithShape="0" algn="ctr" dir="5400000" dist="19050">
              <a:srgbClr val="000000">
                <a:alpha val="6274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CÁM ƠN SỰ LẮNG NGHE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CỦA QUÝ ANH/CHỊ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over and End Slide Master">
  <a:themeElements>
    <a:clrScheme name="2019-Medical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60BED4"/>
      </a:accent1>
      <a:accent2>
        <a:srgbClr val="8EDADA"/>
      </a:accent2>
      <a:accent3>
        <a:srgbClr val="AAAAAA"/>
      </a:accent3>
      <a:accent4>
        <a:srgbClr val="D4D4D4"/>
      </a:accent4>
      <a:accent5>
        <a:srgbClr val="60BED4"/>
      </a:accent5>
      <a:accent6>
        <a:srgbClr val="8EDADA"/>
      </a:accent6>
      <a:hlink>
        <a:srgbClr val="FFFFFF"/>
      </a:hlink>
      <a:folHlink>
        <a:srgbClr val="FF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2018-04-24T17:14:44Z</dcterms:created>
  <dc:creator>Allppt.com;Googleslidesppt.com</dc:creator>
</cp:coreProperties>
</file>