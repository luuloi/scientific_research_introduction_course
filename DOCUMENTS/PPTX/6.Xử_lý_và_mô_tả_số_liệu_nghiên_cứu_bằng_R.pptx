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gLXK4oHWoTz6nlZpuv2c2qgj89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AEBC4A-EDDB-4B31-BE80-0B37408F3EF2}">
  <a:tblStyle styleId="{34AEBC4A-EDDB-4B31-BE80-0B37408F3EF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783f0365d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3b783f0365d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b783f0365d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783f0365d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783f0365d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b783f0365d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783f0365d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783f0365d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b783f0365d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783f0365d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783f0365d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b783f0365d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783f0365d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783f0365d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b783f0365d_0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783f0365d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783f0365d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b783f0365d_0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783f0365d_0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783f0365d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b783f0365d_0_1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783f0365d_0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783f0365d_0_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b783f0365d_0_1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783f0365d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783f0365d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b783f0365d_0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783f0365d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783f0365d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b783f0365d_0_1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783f0365d_0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783f0365d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b783f0365d_0_1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783f0365d_0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783f0365d_0_1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b783f0365d_0_1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783f0365d_0_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783f0365d_0_1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b783f0365d_0_1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783f0365d_0_1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783f0365d_0_1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b783f0365d_0_1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783f0365d_0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783f0365d_0_2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b783f0365d_0_2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783f0365d_0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783f0365d_0_2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b783f0365d_0_2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783f0365d_0_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783f0365d_0_2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b783f0365d_0_2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layout">
  <p:cSld name="End slide layout">
    <p:bg>
      <p:bgPr>
        <a:solidFill>
          <a:schemeClr val="accen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hyperlink" Target="https://www.kaggle.com/datasets/fedesoriano/heart-failure-prediction/data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 txBox="1"/>
          <p:nvPr/>
        </p:nvSpPr>
        <p:spPr>
          <a:xfrm>
            <a:off x="0" y="948958"/>
            <a:ext cx="12192000" cy="4960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6879"/>
              </a:buClr>
              <a:buSzPts val="4000"/>
              <a:buFont typeface="Arial"/>
              <a:buNone/>
            </a:pPr>
            <a:r>
              <a:rPr b="1" lang="en-US" sz="4100">
                <a:solidFill>
                  <a:srgbClr val="1155CC"/>
                </a:solidFill>
              </a:rPr>
              <a:t>Xử lý và mô tả số liệu nghiên cứu </a:t>
            </a:r>
            <a:endParaRPr b="1" sz="4100">
              <a:solidFill>
                <a:srgbClr val="1155CC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6879"/>
              </a:buClr>
              <a:buSzPts val="4000"/>
              <a:buFont typeface="Arial"/>
              <a:buNone/>
            </a:pPr>
            <a:r>
              <a:rPr b="1" lang="en-US" sz="4100">
                <a:solidFill>
                  <a:srgbClr val="1155CC"/>
                </a:solidFill>
              </a:rPr>
              <a:t>bằng ngôn ngữ lập trình R</a:t>
            </a:r>
            <a:endParaRPr b="1" i="1" sz="2500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1" sz="2400">
              <a:solidFill>
                <a:srgbClr val="20687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6879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TS. Lưu Phúc Lợi,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6879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Trưởng Phòng Nghiên cứu khoa học, Viện Ariha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6879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Bệnh viện Thống Nhất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4508525" y="54164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Jan 11, 2026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150" y="0"/>
            <a:ext cx="12192000" cy="9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55CC"/>
                </a:solidFill>
              </a:rPr>
              <a:t>GIỚI THIỆU NGÔN NGỮ LẬP TRÌNH R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475550" y="1445650"/>
            <a:ext cx="67758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Môi trường tính toán cho thống kê, mô hình hoá và trực quan hoá dữ liệu.</a:t>
            </a:r>
            <a:endParaRPr sz="2400">
              <a:solidFill>
                <a:schemeClr val="dk1"/>
              </a:solidFill>
            </a:endParaRPr>
          </a:p>
          <a:p>
            <a:pPr indent="-330200" lvl="0" marL="279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Miễn phí, mã nguồn mở.</a:t>
            </a:r>
            <a:endParaRPr sz="2400">
              <a:solidFill>
                <a:schemeClr val="dk1"/>
              </a:solidFill>
            </a:endParaRPr>
          </a:p>
          <a:p>
            <a:pPr indent="-330200" lvl="0" marL="279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Hỗ trợ phân tích tái lập (R Markdown/Quarto).</a:t>
            </a:r>
            <a:endParaRPr sz="2400">
              <a:solidFill>
                <a:schemeClr val="dk1"/>
              </a:solidFill>
            </a:endParaRPr>
          </a:p>
          <a:p>
            <a:pPr indent="-330200" lvl="0" marL="279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Hệ sinh thái gói lớn: CRAN (đa lĩnh vực) và Bioconductor (omics/bioinformatics).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Sử dụng rộng rãi trong lĩnh vực học thuật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Có thể tích hợp vào các phần mềm khác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Dễ học</a:t>
            </a:r>
            <a:endParaRPr b="1" sz="2400">
              <a:solidFill>
                <a:schemeClr val="dk1"/>
              </a:solidFill>
            </a:endParaRPr>
          </a:p>
        </p:txBody>
      </p:sp>
      <p:grpSp>
        <p:nvGrpSpPr>
          <p:cNvPr id="29" name="Google Shape;29;p2"/>
          <p:cNvGrpSpPr/>
          <p:nvPr/>
        </p:nvGrpSpPr>
        <p:grpSpPr>
          <a:xfrm>
            <a:off x="7456750" y="1974588"/>
            <a:ext cx="3753324" cy="3552662"/>
            <a:chOff x="7456750" y="1974588"/>
            <a:chExt cx="3753324" cy="3552662"/>
          </a:xfrm>
        </p:grpSpPr>
        <p:pic>
          <p:nvPicPr>
            <p:cNvPr id="30" name="Google Shape;30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56750" y="1974588"/>
              <a:ext cx="3753324" cy="29088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31;p2"/>
            <p:cNvSpPr txBox="1"/>
            <p:nvPr/>
          </p:nvSpPr>
          <p:spPr>
            <a:xfrm>
              <a:off x="7875925" y="5096150"/>
              <a:ext cx="300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</a:rPr>
                <a:t>https://www.r-project.org/</a:t>
              </a:r>
              <a:endParaRPr sz="1600">
                <a:solidFill>
                  <a:schemeClr val="dk1"/>
                </a:solidFill>
              </a:endParaRPr>
            </a:p>
          </p:txBody>
        </p:sp>
      </p:grpSp>
      <p:pic>
        <p:nvPicPr>
          <p:cNvPr id="32" name="Google Shape;3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325" y="5925613"/>
            <a:ext cx="577215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b783f0365d_0_7"/>
          <p:cNvSpPr/>
          <p:nvPr/>
        </p:nvSpPr>
        <p:spPr>
          <a:xfrm>
            <a:off x="150" y="0"/>
            <a:ext cx="12192000" cy="9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55CC"/>
                </a:solidFill>
              </a:rPr>
              <a:t>ỨNG DỤNG </a:t>
            </a:r>
            <a:r>
              <a:rPr b="1" lang="en-US" sz="3700">
                <a:solidFill>
                  <a:srgbClr val="1155CC"/>
                </a:solidFill>
              </a:rPr>
              <a:t>NGÔN NGỮ LẬP TRÌNH R</a:t>
            </a:r>
            <a:endParaRPr>
              <a:solidFill>
                <a:srgbClr val="1155CC"/>
              </a:solidFill>
            </a:endParaRPr>
          </a:p>
        </p:txBody>
      </p:sp>
      <p:grpSp>
        <p:nvGrpSpPr>
          <p:cNvPr id="39" name="Google Shape;39;g3b783f0365d_0_7"/>
          <p:cNvGrpSpPr/>
          <p:nvPr/>
        </p:nvGrpSpPr>
        <p:grpSpPr>
          <a:xfrm>
            <a:off x="640455" y="1329157"/>
            <a:ext cx="10911388" cy="4617780"/>
            <a:chOff x="640080" y="1600200"/>
            <a:chExt cx="10911388" cy="4617780"/>
          </a:xfrm>
        </p:grpSpPr>
        <p:sp>
          <p:nvSpPr>
            <p:cNvPr id="40" name="Google Shape;40;g3b783f0365d_0_7"/>
            <p:cNvSpPr/>
            <p:nvPr/>
          </p:nvSpPr>
          <p:spPr>
            <a:xfrm>
              <a:off x="640080" y="1600200"/>
              <a:ext cx="5295600" cy="2148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2700000" dist="19050">
                <a:srgbClr val="000000">
                  <a:alpha val="117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41" name="Google Shape;41;g3b783f0365d_0_7"/>
            <p:cNvSpPr/>
            <p:nvPr/>
          </p:nvSpPr>
          <p:spPr>
            <a:xfrm>
              <a:off x="640080" y="1600200"/>
              <a:ext cx="73200" cy="2148900"/>
            </a:xfrm>
            <a:prstGeom prst="rect">
              <a:avLst/>
            </a:prstGeom>
            <a:solidFill>
              <a:srgbClr val="2563EB"/>
            </a:solidFill>
            <a:ln cap="flat" cmpd="sng" w="127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42" name="Google Shape;42;g3b783f0365d_0_7"/>
            <p:cNvSpPr/>
            <p:nvPr/>
          </p:nvSpPr>
          <p:spPr>
            <a:xfrm>
              <a:off x="841248" y="1764792"/>
              <a:ext cx="49758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None/>
              </a:pPr>
              <a:r>
                <a:rPr b="1" i="0" lang="en-US" sz="1900" u="none" cap="none" strike="noStrike">
                  <a:solidFill>
                    <a:srgbClr val="111827"/>
                  </a:solidFill>
                </a:rPr>
                <a:t>1) Dữ liệu &amp; trực quan</a:t>
              </a:r>
              <a:endParaRPr i="0" sz="190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43" name="Google Shape;43;g3b783f0365d_0_7"/>
            <p:cNvSpPr/>
            <p:nvPr/>
          </p:nvSpPr>
          <p:spPr>
            <a:xfrm>
              <a:off x="859536" y="2167128"/>
              <a:ext cx="49299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66700" lvl="0" marL="228600" marR="0" rtl="0" algn="l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readr/haven: nhập dữ liệu</a:t>
              </a:r>
              <a:endParaRPr i="0" sz="1900" u="none" cap="none" strike="noStrike">
                <a:solidFill>
                  <a:srgbClr val="000000"/>
                </a:solidFill>
              </a:endParaRPr>
            </a:p>
            <a:p>
              <a:pPr indent="-266700" lvl="0" marL="228600" marR="0" rtl="0" algn="l">
                <a:spcBef>
                  <a:spcPts val="40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dplyr/tidyr: làm sạch &amp; biến đổi</a:t>
              </a:r>
              <a:endParaRPr i="0" sz="1900" u="none" cap="none" strike="noStrike">
                <a:solidFill>
                  <a:srgbClr val="000000"/>
                </a:solidFill>
              </a:endParaRPr>
            </a:p>
            <a:p>
              <a:pPr indent="-266700" lvl="0" marL="228600" marR="0" rtl="0" algn="l">
                <a:spcBef>
                  <a:spcPts val="40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ggplot2: biểu đồ chất lượng xuất bản</a:t>
              </a:r>
              <a:endParaRPr i="0" sz="190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44" name="Google Shape;44;g3b783f0365d_0_7"/>
            <p:cNvSpPr/>
            <p:nvPr/>
          </p:nvSpPr>
          <p:spPr>
            <a:xfrm>
              <a:off x="6255868" y="1600200"/>
              <a:ext cx="5295600" cy="2148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2700000" dist="19050">
                <a:srgbClr val="000000">
                  <a:alpha val="117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45" name="Google Shape;45;g3b783f0365d_0_7"/>
            <p:cNvSpPr/>
            <p:nvPr/>
          </p:nvSpPr>
          <p:spPr>
            <a:xfrm>
              <a:off x="6255868" y="1600200"/>
              <a:ext cx="73200" cy="2148900"/>
            </a:xfrm>
            <a:prstGeom prst="rect">
              <a:avLst/>
            </a:prstGeom>
            <a:solidFill>
              <a:srgbClr val="DC2626"/>
            </a:solidFill>
            <a:ln cap="flat" cmpd="sng" w="12700">
              <a:solidFill>
                <a:srgbClr val="DC26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46" name="Google Shape;46;g3b783f0365d_0_7"/>
            <p:cNvSpPr/>
            <p:nvPr/>
          </p:nvSpPr>
          <p:spPr>
            <a:xfrm>
              <a:off x="6457036" y="1764792"/>
              <a:ext cx="49758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None/>
              </a:pPr>
              <a:r>
                <a:rPr b="1" i="0" lang="en-US" sz="1900" u="none" cap="none" strike="noStrike">
                  <a:solidFill>
                    <a:srgbClr val="111827"/>
                  </a:solidFill>
                </a:rPr>
                <a:t>2) Thống kê lâm sàng</a:t>
              </a:r>
              <a:endParaRPr i="0" sz="190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47" name="Google Shape;47;g3b783f0365d_0_7"/>
            <p:cNvSpPr/>
            <p:nvPr/>
          </p:nvSpPr>
          <p:spPr>
            <a:xfrm>
              <a:off x="6475324" y="2167128"/>
              <a:ext cx="49299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66700" lvl="0" marL="228600" marR="0" rtl="0" algn="l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Hồi quy (GLM), mô hình hỗn hợp</a:t>
              </a:r>
              <a:endParaRPr i="0" sz="1900" u="none" cap="none" strike="noStrike">
                <a:solidFill>
                  <a:srgbClr val="000000"/>
                </a:solidFill>
              </a:endParaRPr>
            </a:p>
            <a:p>
              <a:pPr indent="-266700" lvl="0" marL="228600" marR="0" rtl="0" algn="l">
                <a:spcBef>
                  <a:spcPts val="40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Sống sót (survival), ROC/AUC</a:t>
              </a:r>
              <a:endParaRPr i="0" sz="1900" u="none" cap="none" strike="noStrike">
                <a:solidFill>
                  <a:srgbClr val="000000"/>
                </a:solidFill>
              </a:endParaRPr>
            </a:p>
            <a:p>
              <a:pPr indent="-266700" lvl="0" marL="228600" marR="0" rtl="0" algn="l">
                <a:spcBef>
                  <a:spcPts val="40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Thiết kế &amp; phân tích thử nghiệm</a:t>
              </a:r>
              <a:endParaRPr i="0" sz="190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48" name="Google Shape;48;g3b783f0365d_0_7"/>
            <p:cNvSpPr/>
            <p:nvPr/>
          </p:nvSpPr>
          <p:spPr>
            <a:xfrm>
              <a:off x="640080" y="4069080"/>
              <a:ext cx="5295600" cy="2148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2700000" dist="19050">
                <a:srgbClr val="000000">
                  <a:alpha val="117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49" name="Google Shape;49;g3b783f0365d_0_7"/>
            <p:cNvSpPr/>
            <p:nvPr/>
          </p:nvSpPr>
          <p:spPr>
            <a:xfrm>
              <a:off x="640080" y="4069080"/>
              <a:ext cx="73200" cy="2148900"/>
            </a:xfrm>
            <a:prstGeom prst="rect">
              <a:avLst/>
            </a:prstGeom>
            <a:solidFill>
              <a:srgbClr val="0EA5E9"/>
            </a:solidFill>
            <a:ln cap="flat" cmpd="sng" w="12700">
              <a:solidFill>
                <a:srgbClr val="0EA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50" name="Google Shape;50;g3b783f0365d_0_7"/>
            <p:cNvSpPr/>
            <p:nvPr/>
          </p:nvSpPr>
          <p:spPr>
            <a:xfrm>
              <a:off x="841248" y="4233672"/>
              <a:ext cx="49758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None/>
              </a:pPr>
              <a:r>
                <a:rPr b="1" i="0" lang="en-US" sz="1900" u="none" cap="none" strike="noStrike">
                  <a:solidFill>
                    <a:srgbClr val="111827"/>
                  </a:solidFill>
                </a:rPr>
                <a:t>3) Omics &amp; bioinformatics</a:t>
              </a:r>
              <a:endParaRPr i="0" sz="190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51" name="Google Shape;51;g3b783f0365d_0_7"/>
            <p:cNvSpPr/>
            <p:nvPr/>
          </p:nvSpPr>
          <p:spPr>
            <a:xfrm>
              <a:off x="859525" y="4586700"/>
              <a:ext cx="5076300" cy="15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66700" lvl="0" marL="228600" marR="0" rtl="0" algn="l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Bioconductor: RNA-seq, microarray, single-cell</a:t>
              </a:r>
              <a:endParaRPr i="0" sz="1900" u="none" cap="none" strike="noStrike">
                <a:solidFill>
                  <a:srgbClr val="000000"/>
                </a:solidFill>
              </a:endParaRPr>
            </a:p>
            <a:p>
              <a:pPr indent="-266700" lvl="0" marL="228600" marR="0" rtl="0" algn="l">
                <a:spcBef>
                  <a:spcPts val="40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Hạ tầng dữ liệu chuẩn hoá (SummarizedExperiment, …)</a:t>
              </a:r>
              <a:endParaRPr i="0" sz="1900" u="none" cap="none" strike="noStrike">
                <a:solidFill>
                  <a:srgbClr val="000000"/>
                </a:solidFill>
              </a:endParaRPr>
            </a:p>
            <a:p>
              <a:pPr indent="-266700" lvl="0" marL="228600" marR="0" rtl="0" algn="l">
                <a:spcBef>
                  <a:spcPts val="40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Vignettes giúp tái lập workflow</a:t>
              </a:r>
              <a:endParaRPr i="0" sz="190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52" name="Google Shape;52;g3b783f0365d_0_7"/>
            <p:cNvSpPr/>
            <p:nvPr/>
          </p:nvSpPr>
          <p:spPr>
            <a:xfrm>
              <a:off x="6255868" y="4069080"/>
              <a:ext cx="5295600" cy="2148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2700000" dist="19050">
                <a:srgbClr val="000000">
                  <a:alpha val="117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53" name="Google Shape;53;g3b783f0365d_0_7"/>
            <p:cNvSpPr/>
            <p:nvPr/>
          </p:nvSpPr>
          <p:spPr>
            <a:xfrm>
              <a:off x="6255868" y="4069080"/>
              <a:ext cx="73200" cy="2148900"/>
            </a:xfrm>
            <a:prstGeom prst="rect">
              <a:avLst/>
            </a:prstGeom>
            <a:solidFill>
              <a:srgbClr val="059669"/>
            </a:solidFill>
            <a:ln cap="flat" cmpd="sng" w="12700">
              <a:solidFill>
                <a:srgbClr val="0596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54" name="Google Shape;54;g3b783f0365d_0_7"/>
            <p:cNvSpPr/>
            <p:nvPr/>
          </p:nvSpPr>
          <p:spPr>
            <a:xfrm>
              <a:off x="6457036" y="4233672"/>
              <a:ext cx="49758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None/>
              </a:pPr>
              <a:r>
                <a:rPr b="1" i="0" lang="en-US" sz="1900" u="none" cap="none" strike="noStrike">
                  <a:solidFill>
                    <a:srgbClr val="111827"/>
                  </a:solidFill>
                </a:rPr>
                <a:t>4) Báo cáo &amp; triển khai</a:t>
              </a:r>
              <a:endParaRPr i="0" sz="190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55" name="Google Shape;55;g3b783f0365d_0_7"/>
            <p:cNvSpPr/>
            <p:nvPr/>
          </p:nvSpPr>
          <p:spPr>
            <a:xfrm>
              <a:off x="6475324" y="4636008"/>
              <a:ext cx="49299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66700" lvl="0" marL="228600" marR="0" rtl="0" algn="l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R Markdown/Quarto: báo cáo &amp; slide tái lập</a:t>
              </a:r>
              <a:endParaRPr i="0" sz="1900" u="none" cap="none" strike="noStrike">
                <a:solidFill>
                  <a:srgbClr val="000000"/>
                </a:solidFill>
              </a:endParaRPr>
            </a:p>
            <a:p>
              <a:pPr indent="-266700" lvl="0" marL="228600" marR="0" rtl="0" algn="l">
                <a:spcBef>
                  <a:spcPts val="40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Shiny: dashboard/ứng dụng tương tác</a:t>
              </a:r>
              <a:endParaRPr i="0" sz="1900" u="none" cap="none" strike="noStrike">
                <a:solidFill>
                  <a:srgbClr val="000000"/>
                </a:solidFill>
              </a:endParaRPr>
            </a:p>
            <a:p>
              <a:pPr indent="-266700" lvl="0" marL="228600" marR="0" rtl="0" algn="l">
                <a:spcBef>
                  <a:spcPts val="40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Chia sẻ: Git + dữ liệu + môi trường</a:t>
              </a:r>
              <a:endParaRPr i="0" sz="1900" u="none" cap="none" strike="noStrike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g3b783f0365d_0_86"/>
          <p:cNvPicPr preferRelativeResize="0"/>
          <p:nvPr/>
        </p:nvPicPr>
        <p:blipFill rotWithShape="1">
          <a:blip r:embed="rId3">
            <a:alphaModFix/>
          </a:blip>
          <a:srcRect b="0" l="0" r="30148" t="0"/>
          <a:stretch/>
        </p:blipFill>
        <p:spPr>
          <a:xfrm>
            <a:off x="218082" y="201675"/>
            <a:ext cx="5275725" cy="63999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b783f0365d_0_86"/>
          <p:cNvSpPr txBox="1"/>
          <p:nvPr/>
        </p:nvSpPr>
        <p:spPr>
          <a:xfrm>
            <a:off x="5633451" y="229384"/>
            <a:ext cx="6307800" cy="631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2C6FF"/>
                </a:solidFill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ggplot2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 &lt;- read.csv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"/content/BÀI_TẬP_1_sheet2.csv"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header = </a:t>
            </a:r>
            <a:r>
              <a:rPr lang="en-US" sz="12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check.names = </a:t>
            </a:r>
            <a:r>
              <a:rPr lang="en-US" sz="12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Tính p-value (t-test 2 nhóm)</a:t>
            </a:r>
            <a:endParaRPr sz="12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test_res &lt;- t.test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Weight ~ SEX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data = df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p_val &lt;- test_res$p.value</a:t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 &lt;- ggplot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aes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x = SEX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y = Weight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+</a:t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geom_boxplot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staplewidth =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fill = </a:t>
            </a:r>
            <a:r>
              <a:rPr lang="en-US" sz="12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"violet"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color = </a:t>
            </a:r>
            <a:r>
              <a:rPr lang="en-US" sz="12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"black"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+</a:t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geom_jitter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width  =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size   =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alpha  =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color  = </a:t>
            </a:r>
            <a:r>
              <a:rPr lang="en-US" sz="12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"brown"</a:t>
            </a:r>
            <a:endParaRPr sz="12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+</a:t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annotate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x =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1.5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y = max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df$Weight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label = paste0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"p = "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signif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p_val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)),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size =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+</a:t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theme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axis.text.y = element_text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size =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axis.text.x = element_text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size =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783f0365d_0_16"/>
          <p:cNvSpPr/>
          <p:nvPr/>
        </p:nvSpPr>
        <p:spPr>
          <a:xfrm>
            <a:off x="721952" y="1333000"/>
            <a:ext cx="110328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r>
              <a:rPr i="0" lang="en-US" sz="2200" u="none" cap="none" strike="noStrike">
                <a:solidFill>
                  <a:srgbClr val="111111"/>
                </a:solidFill>
              </a:rPr>
              <a:t>• </a:t>
            </a:r>
            <a:r>
              <a:rPr b="1" i="0" lang="en-US" sz="2200" u="none" cap="none" strike="noStrike">
                <a:solidFill>
                  <a:srgbClr val="111111"/>
                </a:solidFill>
              </a:rPr>
              <a:t>Base R</a:t>
            </a:r>
            <a:r>
              <a:rPr i="0" lang="en-US" sz="2200" u="none" cap="none" strike="noStrike">
                <a:solidFill>
                  <a:srgbClr val="111111"/>
                </a:solidFill>
              </a:rPr>
              <a:t>: tập các hàm và cấu trúc dữ liệu mặc định sau khi cài đặt.</a:t>
            </a:r>
            <a:endParaRPr sz="2200">
              <a:solidFill>
                <a:srgbClr val="11111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11111"/>
                </a:solidFill>
              </a:rPr>
              <a:t>• </a:t>
            </a:r>
            <a:r>
              <a:rPr lang="en-US" sz="2200">
                <a:solidFill>
                  <a:srgbClr val="111111"/>
                </a:solidFill>
              </a:rPr>
              <a:t>R vận hành qua gõ lệnh (trong R, lệnh = hàm = function)</a:t>
            </a:r>
            <a:br>
              <a:rPr i="0" lang="en-US" sz="2200" u="none" cap="none" strike="noStrike">
                <a:solidFill>
                  <a:srgbClr val="111111"/>
                </a:solidFill>
              </a:rPr>
            </a:br>
            <a:r>
              <a:rPr i="0" lang="en-US" sz="2200" u="none" cap="none" strike="noStrike">
                <a:solidFill>
                  <a:srgbClr val="111111"/>
                </a:solidFill>
              </a:rPr>
              <a:t>• </a:t>
            </a:r>
            <a:r>
              <a:rPr b="1" i="0" lang="en-US" sz="2200" u="none" cap="none" strike="noStrike">
                <a:solidFill>
                  <a:srgbClr val="111111"/>
                </a:solidFill>
              </a:rPr>
              <a:t>Packages</a:t>
            </a:r>
            <a:r>
              <a:rPr i="0" lang="en-US" sz="2200" u="none" cap="none" strike="noStrike">
                <a:solidFill>
                  <a:srgbClr val="111111"/>
                </a:solidFill>
              </a:rPr>
              <a:t>: mở rộng tính năng (vd: tidyverse, ggplot2, survival, Bioconductor).</a:t>
            </a:r>
            <a:br>
              <a:rPr i="0" lang="en-US" sz="2200" u="none" cap="none" strike="noStrike">
                <a:solidFill>
                  <a:srgbClr val="111111"/>
                </a:solidFill>
              </a:rPr>
            </a:br>
            <a:r>
              <a:rPr i="0" lang="en-US" sz="2200" u="none" cap="none" strike="noStrike">
                <a:solidFill>
                  <a:srgbClr val="111111"/>
                </a:solidFill>
              </a:rPr>
              <a:t>• </a:t>
            </a:r>
            <a:r>
              <a:rPr lang="en-US" sz="2200">
                <a:solidFill>
                  <a:srgbClr val="111111"/>
                </a:solidFill>
              </a:rPr>
              <a:t>R vận hành dựa trên 'đối tượng': </a:t>
            </a:r>
            <a:r>
              <a:rPr b="1" lang="en-US" sz="2200">
                <a:solidFill>
                  <a:srgbClr val="111111"/>
                </a:solidFill>
              </a:rPr>
              <a:t>object </a:t>
            </a:r>
            <a:r>
              <a:rPr lang="en-US" sz="2200">
                <a:solidFill>
                  <a:srgbClr val="111111"/>
                </a:solidFill>
              </a:rPr>
              <a:t>(bao gồm dữ liệu, biến số, hình ảnh, bảng, v.v.)</a:t>
            </a:r>
            <a:endParaRPr sz="22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11111"/>
                </a:solidFill>
              </a:rPr>
              <a:t>• Dữ liệu (dataset) trong R gọi là </a:t>
            </a:r>
            <a:r>
              <a:rPr b="1" lang="en-US" sz="2200">
                <a:solidFill>
                  <a:srgbClr val="111111"/>
                </a:solidFill>
              </a:rPr>
              <a:t>data.frame</a:t>
            </a:r>
            <a:endParaRPr b="1" sz="22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11111"/>
                </a:solidFill>
              </a:rPr>
              <a:t>• Mỗi data frame có nhiều biến số gọi là </a:t>
            </a:r>
            <a:r>
              <a:rPr b="1" lang="en-US" sz="2200">
                <a:solidFill>
                  <a:srgbClr val="111111"/>
                </a:solidFill>
              </a:rPr>
              <a:t>variable</a:t>
            </a:r>
            <a:endParaRPr b="1" sz="22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11111"/>
                </a:solidFill>
              </a:rPr>
              <a:t>• </a:t>
            </a:r>
            <a:r>
              <a:rPr b="1" lang="en-US" sz="2200">
                <a:solidFill>
                  <a:srgbClr val="111111"/>
                </a:solidFill>
              </a:rPr>
              <a:t>Function</a:t>
            </a:r>
            <a:r>
              <a:rPr lang="en-US" sz="2200">
                <a:solidFill>
                  <a:srgbClr val="111111"/>
                </a:solidFill>
              </a:rPr>
              <a:t> phải có </a:t>
            </a:r>
            <a:r>
              <a:rPr b="1" lang="en-US" sz="2200">
                <a:solidFill>
                  <a:srgbClr val="111111"/>
                </a:solidFill>
              </a:rPr>
              <a:t>arguments </a:t>
            </a:r>
            <a:r>
              <a:rPr lang="en-US" sz="2200">
                <a:solidFill>
                  <a:srgbClr val="111111"/>
                </a:solidFill>
              </a:rPr>
              <a:t>/ đối số (đầu vào)</a:t>
            </a:r>
            <a:endParaRPr sz="2200">
              <a:solidFill>
                <a:srgbClr val="11111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br>
              <a:rPr i="0" lang="en-US" sz="2200" u="none" cap="none" strike="noStrike">
                <a:solidFill>
                  <a:srgbClr val="111111"/>
                </a:solidFill>
              </a:rPr>
            </a:br>
            <a:endParaRPr i="0" sz="2200" u="none" cap="none" strike="noStrike">
              <a:solidFill>
                <a:srgbClr val="000000"/>
              </a:solidFill>
            </a:endParaRPr>
          </a:p>
        </p:txBody>
      </p:sp>
      <p:sp>
        <p:nvSpPr>
          <p:cNvPr id="69" name="Google Shape;69;g3b783f0365d_0_16"/>
          <p:cNvSpPr/>
          <p:nvPr/>
        </p:nvSpPr>
        <p:spPr>
          <a:xfrm>
            <a:off x="-16433" y="4450710"/>
            <a:ext cx="1219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C4587"/>
                </a:solidFill>
              </a:rPr>
              <a:t>R = Base + Packages</a:t>
            </a:r>
            <a:endParaRPr i="0" sz="2400" u="none" cap="none" strike="noStrike">
              <a:solidFill>
                <a:srgbClr val="1C4587"/>
              </a:solidFill>
            </a:endParaRPr>
          </a:p>
        </p:txBody>
      </p:sp>
      <p:grpSp>
        <p:nvGrpSpPr>
          <p:cNvPr id="70" name="Google Shape;70;g3b783f0365d_0_16"/>
          <p:cNvGrpSpPr/>
          <p:nvPr/>
        </p:nvGrpSpPr>
        <p:grpSpPr>
          <a:xfrm>
            <a:off x="806477" y="5183823"/>
            <a:ext cx="10545900" cy="1142940"/>
            <a:chOff x="806477" y="4674373"/>
            <a:chExt cx="10545900" cy="1142940"/>
          </a:xfrm>
        </p:grpSpPr>
        <p:sp>
          <p:nvSpPr>
            <p:cNvPr id="71" name="Google Shape;71;g3b783f0365d_0_16"/>
            <p:cNvSpPr/>
            <p:nvPr/>
          </p:nvSpPr>
          <p:spPr>
            <a:xfrm>
              <a:off x="806477" y="4674373"/>
              <a:ext cx="105459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111111"/>
                  </a:solidFill>
                </a:rPr>
                <a:t>Ví dụ: </a:t>
              </a:r>
              <a:r>
                <a:rPr i="0" lang="en-US" sz="2000" u="none" cap="none" strike="noStrike">
                  <a:solidFill>
                    <a:srgbClr val="111111"/>
                  </a:solidFill>
                </a:rPr>
                <a:t>cài và </a:t>
              </a:r>
              <a:r>
                <a:rPr lang="en-US" sz="2000">
                  <a:solidFill>
                    <a:srgbClr val="111111"/>
                  </a:solidFill>
                </a:rPr>
                <a:t>gọi</a:t>
              </a:r>
              <a:r>
                <a:rPr i="0" lang="en-US" sz="2000" u="none" cap="none" strike="noStrike">
                  <a:solidFill>
                    <a:srgbClr val="111111"/>
                  </a:solidFill>
                </a:rPr>
                <a:t> package để phân tích dữ liệu</a:t>
              </a:r>
              <a:endParaRPr i="0" sz="200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72" name="Google Shape;72;g3b783f0365d_0_16"/>
            <p:cNvSpPr/>
            <p:nvPr/>
          </p:nvSpPr>
          <p:spPr>
            <a:xfrm>
              <a:off x="806477" y="4994413"/>
              <a:ext cx="105459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A1B9A"/>
                </a:buClr>
                <a:buSzPts val="2000"/>
                <a:buFont typeface="Consolas"/>
                <a:buNone/>
              </a:pPr>
              <a:r>
                <a:rPr i="0" lang="en-US" sz="2000" u="none" cap="none" strike="noStrike">
                  <a:solidFill>
                    <a:srgbClr val="6A1B9A"/>
                  </a:solidFill>
                </a:rPr>
                <a:t>install.packages("</a:t>
              </a:r>
              <a:r>
                <a:rPr lang="en-US" sz="2000">
                  <a:solidFill>
                    <a:srgbClr val="6A1B9A"/>
                  </a:solidFill>
                </a:rPr>
                <a:t>ggplot2</a:t>
              </a:r>
              <a:r>
                <a:rPr i="0" lang="en-US" sz="2000" u="none" cap="none" strike="noStrike">
                  <a:solidFill>
                    <a:srgbClr val="6A1B9A"/>
                  </a:solidFill>
                </a:rPr>
                <a:t>")</a:t>
              </a:r>
              <a:endParaRPr i="0" sz="2000" u="none" cap="none" strike="noStrike">
                <a:solidFill>
                  <a:srgbClr val="000000"/>
                </a:solidFill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A1B9A"/>
                </a:buClr>
                <a:buSzPts val="2000"/>
                <a:buFont typeface="Consolas"/>
                <a:buNone/>
              </a:pPr>
              <a:r>
                <a:rPr i="0" lang="en-US" sz="2000" u="none" cap="none" strike="noStrike">
                  <a:solidFill>
                    <a:srgbClr val="6A1B9A"/>
                  </a:solidFill>
                </a:rPr>
                <a:t>library(</a:t>
              </a:r>
              <a:r>
                <a:rPr lang="en-US" sz="2000">
                  <a:solidFill>
                    <a:srgbClr val="6A1B9A"/>
                  </a:solidFill>
                </a:rPr>
                <a:t>ggplot2</a:t>
              </a:r>
              <a:r>
                <a:rPr i="0" lang="en-US" sz="2000" u="none" cap="none" strike="noStrike">
                  <a:solidFill>
                    <a:srgbClr val="6A1B9A"/>
                  </a:solidFill>
                </a:rPr>
                <a:t>)</a:t>
              </a:r>
              <a:endParaRPr i="0" sz="2000" u="none" cap="none" strike="noStrike">
                <a:solidFill>
                  <a:srgbClr val="000000"/>
                </a:solidFill>
              </a:endParaRPr>
            </a:p>
          </p:txBody>
        </p:sp>
      </p:grpSp>
      <p:sp>
        <p:nvSpPr>
          <p:cNvPr id="73" name="Google Shape;73;g3b783f0365d_0_16"/>
          <p:cNvSpPr/>
          <p:nvPr/>
        </p:nvSpPr>
        <p:spPr>
          <a:xfrm>
            <a:off x="150" y="0"/>
            <a:ext cx="12192000" cy="9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55CC"/>
                </a:solidFill>
              </a:rPr>
              <a:t>CÁC THÀNH PHẦN CHÍNH TRONG</a:t>
            </a:r>
            <a:r>
              <a:rPr b="1" lang="en-US" sz="3700">
                <a:solidFill>
                  <a:srgbClr val="1155CC"/>
                </a:solidFill>
              </a:rPr>
              <a:t> NGÔN NGỮ R</a:t>
            </a:r>
            <a:endParaRPr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783f0365d_0_33"/>
          <p:cNvSpPr/>
          <p:nvPr/>
        </p:nvSpPr>
        <p:spPr>
          <a:xfrm>
            <a:off x="150" y="0"/>
            <a:ext cx="12192000" cy="9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55CC"/>
                </a:solidFill>
              </a:rPr>
              <a:t>Dữ liệu nghiên cứu dạng excel (csv format)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80" name="Google Shape;80;g3b783f0365d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50" y="1643375"/>
            <a:ext cx="11887201" cy="36170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b783f0365d_0_33"/>
          <p:cNvSpPr txBox="1"/>
          <p:nvPr/>
        </p:nvSpPr>
        <p:spPr>
          <a:xfrm>
            <a:off x="262825" y="1043075"/>
            <a:ext cx="5937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US" sz="2700">
                <a:solidFill>
                  <a:srgbClr val="202124"/>
                </a:solidFill>
                <a:highlight>
                  <a:srgbClr val="FFFFFF"/>
                </a:highlight>
              </a:rPr>
              <a:t>Heart Failure Prediction Dataset</a:t>
            </a:r>
            <a:endParaRPr b="1" sz="27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82" name="Google Shape;82;g3b783f0365d_0_33"/>
          <p:cNvSpPr txBox="1"/>
          <p:nvPr/>
        </p:nvSpPr>
        <p:spPr>
          <a:xfrm>
            <a:off x="418850" y="5455625"/>
            <a:ext cx="66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Link project: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https://www.kaggle.com/datasets/fedesoriano/heart-failure-prediction/data</a:t>
            </a:r>
            <a:endParaRPr sz="1500">
              <a:solidFill>
                <a:srgbClr val="1155CC"/>
              </a:solidFill>
            </a:endParaRPr>
          </a:p>
        </p:txBody>
      </p:sp>
      <p:sp>
        <p:nvSpPr>
          <p:cNvPr id="83" name="Google Shape;83;g3b783f0365d_0_33"/>
          <p:cNvSpPr txBox="1"/>
          <p:nvPr/>
        </p:nvSpPr>
        <p:spPr>
          <a:xfrm>
            <a:off x="8672300" y="5836275"/>
            <a:ext cx="2554200" cy="509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C2626"/>
                </a:solidFill>
              </a:rPr>
              <a:t>Làm sao đọc vào R?</a:t>
            </a:r>
            <a:endParaRPr sz="2000">
              <a:solidFill>
                <a:srgbClr val="DC262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783f0365d_0_80"/>
          <p:cNvSpPr/>
          <p:nvPr/>
        </p:nvSpPr>
        <p:spPr>
          <a:xfrm>
            <a:off x="150" y="0"/>
            <a:ext cx="12192000" cy="9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55CC"/>
                </a:solidFill>
              </a:rPr>
              <a:t>Đọc dữ liệu vào R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90" name="Google Shape;90;g3b783f0365d_0_80"/>
          <p:cNvSpPr txBox="1"/>
          <p:nvPr/>
        </p:nvSpPr>
        <p:spPr>
          <a:xfrm>
            <a:off x="237384" y="1084125"/>
            <a:ext cx="11712000" cy="14037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– Bước 1: </a:t>
            </a:r>
            <a:r>
              <a:rPr lang="en-US" sz="2400">
                <a:solidFill>
                  <a:schemeClr val="dk1"/>
                </a:solidFill>
              </a:rPr>
              <a:t>tìm đường link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– Bước 2: </a:t>
            </a:r>
            <a:r>
              <a:rPr lang="en-US" sz="2400">
                <a:solidFill>
                  <a:schemeClr val="dk1"/>
                </a:solidFill>
              </a:rPr>
              <a:t>dùng lệnh/hàm 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read.csv</a:t>
            </a:r>
            <a:r>
              <a:rPr lang="en-US" sz="2400">
                <a:solidFill>
                  <a:schemeClr val="dk1"/>
                </a:solidFill>
              </a:rPr>
              <a:t> và đặt tên cho dữ liệu (ví dụ: 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US" sz="2400">
                <a:solidFill>
                  <a:schemeClr val="dk1"/>
                </a:solidFill>
              </a:rPr>
              <a:t>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– Bước 3: </a:t>
            </a:r>
            <a:r>
              <a:rPr lang="en-US" sz="2400">
                <a:solidFill>
                  <a:schemeClr val="dk1"/>
                </a:solidFill>
              </a:rPr>
              <a:t>kiểm tra qua hàm 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head(df)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" name="Google Shape;91;g3b783f0365d_0_80"/>
          <p:cNvSpPr txBox="1"/>
          <p:nvPr/>
        </p:nvSpPr>
        <p:spPr>
          <a:xfrm>
            <a:off x="566700" y="2537111"/>
            <a:ext cx="80481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df &lt;- 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ead.csv(</a:t>
            </a:r>
            <a:r>
              <a:rPr lang="en-US" sz="16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"/content/Heart_Data.csv"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lang="en-US" sz="16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hoặc</a:t>
            </a:r>
            <a:endParaRPr sz="16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library(lessR)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df &lt;- Read(</a:t>
            </a:r>
            <a:r>
              <a:rPr lang="en-US" sz="16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"/content/Heart_Data.csv"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head (df)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2" name="Google Shape;92;g3b783f0365d_0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967" y="4033656"/>
            <a:ext cx="10696575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783f0365d_0_103"/>
          <p:cNvSpPr txBox="1"/>
          <p:nvPr/>
        </p:nvSpPr>
        <p:spPr>
          <a:xfrm>
            <a:off x="673138" y="3962597"/>
            <a:ext cx="1073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Data frame </a:t>
            </a:r>
            <a:r>
              <a:rPr lang="en-US" sz="2400">
                <a:solidFill>
                  <a:schemeClr val="dk1"/>
                </a:solidFill>
              </a:rPr>
              <a:t>(dataset) trong trường hợp này là </a:t>
            </a:r>
            <a:r>
              <a:rPr b="1" lang="en-US" sz="2400">
                <a:solidFill>
                  <a:schemeClr val="dk1"/>
                </a:solidFill>
              </a:rPr>
              <a:t>df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Biến số </a:t>
            </a:r>
            <a:r>
              <a:rPr lang="en-US" sz="2400">
                <a:solidFill>
                  <a:schemeClr val="dk1"/>
                </a:solidFill>
              </a:rPr>
              <a:t>(variables): </a:t>
            </a:r>
            <a:r>
              <a:rPr b="1" lang="en-US" sz="2400">
                <a:solidFill>
                  <a:schemeClr val="dk1"/>
                </a:solidFill>
              </a:rPr>
              <a:t>cột của df</a:t>
            </a:r>
            <a:r>
              <a:rPr lang="en-US" sz="2400">
                <a:solidFill>
                  <a:schemeClr val="dk1"/>
                </a:solidFill>
              </a:rPr>
              <a:t>: </a:t>
            </a:r>
            <a:r>
              <a:rPr lang="en-US" sz="2400">
                <a:solidFill>
                  <a:schemeClr val="dk1"/>
                </a:solidFill>
              </a:rPr>
              <a:t>Age, Sex, ChestPainType, Cholesterol, …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99" name="Google Shape;99;g3b783f0365d_0_103"/>
          <p:cNvSpPr txBox="1"/>
          <p:nvPr/>
        </p:nvSpPr>
        <p:spPr>
          <a:xfrm>
            <a:off x="3819400" y="5368127"/>
            <a:ext cx="44376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C2626"/>
                </a:solidFill>
              </a:rPr>
              <a:t>df này có bao nhiêu variables? có bao nhiêu samples?</a:t>
            </a:r>
            <a:endParaRPr sz="2400">
              <a:solidFill>
                <a:srgbClr val="DC2626"/>
              </a:solidFill>
            </a:endParaRPr>
          </a:p>
        </p:txBody>
      </p:sp>
      <p:pic>
        <p:nvPicPr>
          <p:cNvPr id="100" name="Google Shape;100;g3b783f0365d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125" y="365952"/>
            <a:ext cx="11709751" cy="347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783f0365d_0_115"/>
          <p:cNvSpPr txBox="1"/>
          <p:nvPr/>
        </p:nvSpPr>
        <p:spPr>
          <a:xfrm>
            <a:off x="0" y="2373600"/>
            <a:ext cx="12192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1155CC"/>
                </a:solidFill>
              </a:rPr>
              <a:t>Phân tích</a:t>
            </a:r>
            <a:r>
              <a:rPr b="1" lang="en-US" sz="4100">
                <a:solidFill>
                  <a:srgbClr val="1155CC"/>
                </a:solidFill>
              </a:rPr>
              <a:t> mô tả số liệu nghiên cứu </a:t>
            </a:r>
            <a:endParaRPr b="1" sz="4100">
              <a:solidFill>
                <a:srgbClr val="1155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package table 1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783f0365d_0_143"/>
          <p:cNvSpPr txBox="1"/>
          <p:nvPr/>
        </p:nvSpPr>
        <p:spPr>
          <a:xfrm>
            <a:off x="0" y="2036250"/>
            <a:ext cx="78921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Tải và gọi package table1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install.packages(</a:t>
            </a:r>
            <a:r>
              <a:rPr lang="en-US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"table1"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(table1)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Thống kê </a:t>
            </a:r>
            <a:endParaRPr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df &lt;- read.csv(</a:t>
            </a:r>
            <a:r>
              <a:rPr lang="en-US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"/content/Heart_Data.csv"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table1(~Age + Sex + RestingBP + Cholesterol + FastingBS + HeartDisease, data=df)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13" name="Google Shape;113;g3b783f0365d_0_143"/>
          <p:cNvGraphicFramePr/>
          <p:nvPr/>
        </p:nvGraphicFramePr>
        <p:xfrm>
          <a:off x="8209520" y="6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{34AEBC4A-EDDB-4B31-BE80-0B37408F3EF2}</a:tableStyleId>
              </a:tblPr>
              <a:tblGrid>
                <a:gridCol w="1782325"/>
                <a:gridCol w="1782325"/>
              </a:tblGrid>
              <a:tr h="34197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Overall (N=918)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165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Age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1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Mean (SD)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53.5 (9.43)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Median [Min, Max]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54.0 [28.0, 77.0]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Sex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F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193 (21.0%)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725 (79.0%)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5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RestingBP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1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Mean (SD)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132 (18.5)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Median [Min, Max]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130 [0, 200]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5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Cholesterol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1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Mean (SD)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199 (109)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Median [Min, Max]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223 [0, 603]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5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FastingBS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1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Mean (SD)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0.233 (0.423)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Median [Min, Max]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 [0, 1.00]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5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HeartDisease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1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Mean (SD)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0.553 (0.497)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Median [Min, Max]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1.00 [0, 1.00]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" name="Google Shape;114;g3b783f0365d_0_143"/>
          <p:cNvSpPr/>
          <p:nvPr/>
        </p:nvSpPr>
        <p:spPr>
          <a:xfrm>
            <a:off x="150" y="0"/>
            <a:ext cx="7962900" cy="9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55CC"/>
                </a:solidFill>
              </a:rPr>
              <a:t>Mô tả đặc điểm variables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115" name="Google Shape;115;g3b783f0365d_0_143"/>
          <p:cNvSpPr txBox="1"/>
          <p:nvPr/>
        </p:nvSpPr>
        <p:spPr>
          <a:xfrm>
            <a:off x="202350" y="4908875"/>
            <a:ext cx="77607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Chỉ trả lời câu hỏi:</a:t>
            </a:r>
            <a:endParaRPr sz="2400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i="1" lang="en-US" sz="2400">
                <a:solidFill>
                  <a:schemeClr val="dk1"/>
                </a:solidFill>
              </a:rPr>
              <a:t>“Mẫu nghiên cứu của chúng ta trông như thế nào?”</a:t>
            </a:r>
            <a:endParaRPr i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783f0365d_0_125"/>
          <p:cNvSpPr txBox="1"/>
          <p:nvPr/>
        </p:nvSpPr>
        <p:spPr>
          <a:xfrm>
            <a:off x="-40900" y="1576333"/>
            <a:ext cx="7826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df &lt;- read.csv(</a:t>
            </a:r>
            <a:r>
              <a:rPr lang="en-US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"/content/Heart_Data.csv"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table1(~Age + Sex + RestingBP + Cholesterol + FastingBS </a:t>
            </a:r>
            <a:r>
              <a:rPr lang="en-US">
                <a:solidFill>
                  <a:srgbClr val="DC26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 HeartDisease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data=df)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2" name="Google Shape;122;g3b783f0365d_0_125"/>
          <p:cNvSpPr/>
          <p:nvPr/>
        </p:nvSpPr>
        <p:spPr>
          <a:xfrm>
            <a:off x="150" y="0"/>
            <a:ext cx="7637400" cy="129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55CC"/>
                </a:solidFill>
              </a:rPr>
              <a:t>Mô tả đặc điểm variables</a:t>
            </a:r>
            <a:endParaRPr b="1" sz="3700">
              <a:solidFill>
                <a:srgbClr val="1155CC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700">
                <a:solidFill>
                  <a:srgbClr val="1155CC"/>
                </a:solidFill>
              </a:rPr>
              <a:t>tương quan với HeartDisease</a:t>
            </a:r>
            <a:endParaRPr b="1" sz="3700">
              <a:solidFill>
                <a:srgbClr val="1155CC"/>
              </a:solidFill>
            </a:endParaRPr>
          </a:p>
        </p:txBody>
      </p:sp>
      <p:graphicFrame>
        <p:nvGraphicFramePr>
          <p:cNvPr id="123" name="Google Shape;123;g3b783f0365d_0_125"/>
          <p:cNvGraphicFramePr/>
          <p:nvPr/>
        </p:nvGraphicFramePr>
        <p:xfrm>
          <a:off x="7675625" y="647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{34AEBC4A-EDDB-4B31-BE80-0B37408F3EF2}</a:tableStyleId>
              </a:tblPr>
              <a:tblGrid>
                <a:gridCol w="1115800"/>
                <a:gridCol w="1115800"/>
                <a:gridCol w="1115800"/>
                <a:gridCol w="1115800"/>
              </a:tblGrid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(N=410)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(N=508)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Overall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(N=918)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Age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Mean (SD)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50.6 (9.44)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55.9 (8.73)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53.5 (9.43)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Median [Min, Max]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51.0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[28.0,76.0]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57.0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[31.0,77.0]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54.0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[28.0,77.0]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Sex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143 (34.9%)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50 (9.8%)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193 (21.0%)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267 (65.1%)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458 (90.2%)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725 (79.0%)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RestingBP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Mean (SD)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130 (16.5)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134 (19.8)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132 (18.5)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Median [Min, Max]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130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[80.0, 190]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132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[0, 200]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130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[0, 200]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Cholesterol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Mean (SD)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227 (74.6)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176 (126)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199 (109)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Median [Min, Max]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227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[0, 564]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217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[0, 603]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223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[0, 603]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FastingBS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Mean (SD)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0.107 (0.310)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0.335 (0.472)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0.233 (0.423)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Median [Min, Max]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 [0, 1.00]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 [0, 1.00]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 [0, 1.00]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4" name="Google Shape;124;g3b783f0365d_0_125"/>
          <p:cNvSpPr txBox="1"/>
          <p:nvPr/>
        </p:nvSpPr>
        <p:spPr>
          <a:xfrm>
            <a:off x="640625" y="3429000"/>
            <a:ext cx="5822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Kết luận: 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</a:rPr>
              <a:t>Nhóm mắc bệnh tim có tuổi trung bình …</a:t>
            </a:r>
            <a:endParaRPr i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</a:rPr>
              <a:t>Nhóm mắc bệnh tim có </a:t>
            </a:r>
            <a:r>
              <a:rPr i="1" lang="en-US" sz="2400">
                <a:solidFill>
                  <a:srgbClr val="DC2626"/>
                </a:solidFill>
              </a:rPr>
              <a:t>[...]</a:t>
            </a:r>
            <a:r>
              <a:rPr i="1" lang="en-US" sz="2400">
                <a:solidFill>
                  <a:schemeClr val="dk1"/>
                </a:solidFill>
              </a:rPr>
              <a:t> cao hơn</a:t>
            </a:r>
            <a:endParaRPr i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400">
                <a:solidFill>
                  <a:schemeClr val="dk1"/>
                </a:solidFill>
              </a:rPr>
              <a:t>Nhóm mắc bệnh tim có </a:t>
            </a:r>
            <a:r>
              <a:rPr i="1" lang="en-US" sz="2400">
                <a:solidFill>
                  <a:srgbClr val="DC2626"/>
                </a:solidFill>
              </a:rPr>
              <a:t>[...]</a:t>
            </a:r>
            <a:r>
              <a:rPr i="1" lang="en-US" sz="2400">
                <a:solidFill>
                  <a:schemeClr val="dk1"/>
                </a:solidFill>
              </a:rPr>
              <a:t> cao hơn</a:t>
            </a:r>
            <a:endParaRPr i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783f0365d_0_162"/>
          <p:cNvSpPr txBox="1"/>
          <p:nvPr/>
        </p:nvSpPr>
        <p:spPr>
          <a:xfrm>
            <a:off x="0" y="2373600"/>
            <a:ext cx="12192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1155CC"/>
                </a:solidFill>
              </a:rPr>
              <a:t>Xử lý</a:t>
            </a:r>
            <a:r>
              <a:rPr b="1" lang="en-US" sz="4100">
                <a:solidFill>
                  <a:srgbClr val="1155CC"/>
                </a:solidFill>
              </a:rPr>
              <a:t> số liệu nghiên cứu (</a:t>
            </a:r>
            <a:r>
              <a:rPr b="1" lang="en-US" sz="4100">
                <a:solidFill>
                  <a:srgbClr val="1155CC"/>
                </a:solidFill>
              </a:rPr>
              <a:t>data editing)</a:t>
            </a:r>
            <a:endParaRPr b="1" sz="41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783f0365d_0_168"/>
          <p:cNvSpPr txBox="1"/>
          <p:nvPr/>
        </p:nvSpPr>
        <p:spPr>
          <a:xfrm>
            <a:off x="394200" y="1806875"/>
            <a:ext cx="113253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Dữ liệu thô lúc nào cũng cần 'biên tập'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Biến </a:t>
            </a:r>
            <a:r>
              <a:rPr b="1" lang="en-US" sz="2400">
                <a:solidFill>
                  <a:schemeClr val="dk1"/>
                </a:solidFill>
              </a:rPr>
              <a:t>HeartFailure</a:t>
            </a:r>
            <a:r>
              <a:rPr lang="en-US" sz="2400">
                <a:solidFill>
                  <a:schemeClr val="dk1"/>
                </a:solidFill>
              </a:rPr>
              <a:t> có giá trị (0/1) nên cho label: no/yes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Biến </a:t>
            </a:r>
            <a:r>
              <a:rPr b="1" lang="en-US" sz="2400">
                <a:solidFill>
                  <a:schemeClr val="dk1"/>
                </a:solidFill>
              </a:rPr>
              <a:t>FastingBS </a:t>
            </a:r>
            <a:r>
              <a:rPr lang="en-US" sz="2400">
                <a:solidFill>
                  <a:schemeClr val="dk1"/>
                </a:solidFill>
              </a:rPr>
              <a:t>có giá trị (0/1)</a:t>
            </a:r>
            <a:r>
              <a:rPr b="1"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chemeClr val="dk1"/>
                </a:solidFill>
              </a:rPr>
              <a:t>nên cho label: no/yes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Một số biến cần có label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Tạo ra biến mới và tính toán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Phân nhóm và coding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37" name="Google Shape;137;g3b783f0365d_0_168"/>
          <p:cNvSpPr/>
          <p:nvPr/>
        </p:nvSpPr>
        <p:spPr>
          <a:xfrm>
            <a:off x="150" y="0"/>
            <a:ext cx="12192000" cy="9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55CC"/>
                </a:solidFill>
              </a:rPr>
              <a:t>Mục đích</a:t>
            </a:r>
            <a:endParaRPr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783f0365d_0_178"/>
          <p:cNvSpPr txBox="1"/>
          <p:nvPr/>
        </p:nvSpPr>
        <p:spPr>
          <a:xfrm>
            <a:off x="433350" y="1275875"/>
            <a:ext cx="113253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lang="en-US" sz="2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HeartFailure</a:t>
            </a:r>
            <a:r>
              <a:rPr b="1" lang="en-US" sz="2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chuyển thành factor và gán nhãn 0 = No, 1 = Yes</a:t>
            </a:r>
            <a:endParaRPr sz="23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df$HeartFailure = factor(df$HeartFailure,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                          levels = c(0, 1),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                          labels = c("No", "Yes"))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lang="en-US" sz="2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FastingBS</a:t>
            </a:r>
            <a:r>
              <a:rPr b="1" lang="en-US" sz="2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3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chuyển thành factor và gán nhãn 0 = No, 1 = Yes</a:t>
            </a:r>
            <a:endParaRPr sz="23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df$FastingBS = factor(df$FastingBS,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                       levels = c(0, 1),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                       labels = c("No", "Yes"))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783f0365d_0_187"/>
          <p:cNvSpPr txBox="1"/>
          <p:nvPr/>
        </p:nvSpPr>
        <p:spPr>
          <a:xfrm>
            <a:off x="610050" y="1437325"/>
            <a:ext cx="10971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Prompt: </a:t>
            </a:r>
            <a:r>
              <a:rPr lang="en-US" sz="2000">
                <a:solidFill>
                  <a:schemeClr val="dk1"/>
                </a:solidFill>
              </a:rPr>
              <a:t>Tôi có dataset y sinh với ~900 quan sát.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Các biến gồm: Age (years), Sex (M/F), RestingBP (mmHg), Cholesterol (mm/dl, có giá trị 0), FastingBS (0/1), HeartDisease (0/1).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Tôi muốn tạo Table 1 phân tầng theo HeartDisease.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Hãy cho tôi code R để biên tập dữ liệu cho Table 1 (factor, label, trình bày) trong 1 script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50" name="Google Shape;150;g3b783f0365d_0_187"/>
          <p:cNvSpPr/>
          <p:nvPr/>
        </p:nvSpPr>
        <p:spPr>
          <a:xfrm>
            <a:off x="150" y="0"/>
            <a:ext cx="12192000" cy="9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55CC"/>
                </a:solidFill>
              </a:rPr>
              <a:t>Prompt ChatGPT</a:t>
            </a:r>
            <a:endParaRPr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783f0365d_0_199"/>
          <p:cNvSpPr txBox="1"/>
          <p:nvPr/>
        </p:nvSpPr>
        <p:spPr>
          <a:xfrm>
            <a:off x="1231950" y="57475"/>
            <a:ext cx="4877700" cy="69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# 1. Load packages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library(dplyr)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library(tableone)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# 2. Import data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# Thay đường dẫn và tên file cho phù hợp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# data &lt;- read.csv("your_data.csv")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# Giả sử data đã có sẵn trong môi trường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df &lt;- data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# 3. Data cleaning &amp; recoding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df &lt;- df %&gt;%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mutate(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# Outcome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HeartDisease = factor(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  HeartDisease,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  levels = c(0, 1),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  labels = c("No", "Yes")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),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# Sex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Sex = factor(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  Sex,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  levels = c("M", "F"),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  labels = c("Male", "Female")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),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# Fasting blood sugar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FastingBS = factor(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  FastingBS,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  levels = c(0, 1),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  labels = c("≤ 120 mg/dl", "&gt; 120 mg/dl")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),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# Cholesterol: 0 được coi là missing (thường gặp trong dataset tim mạch)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Cholesterol = na_if(Cholesterol, 0)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7" name="Google Shape;157;g3b783f0365d_0_199"/>
          <p:cNvSpPr txBox="1"/>
          <p:nvPr/>
        </p:nvSpPr>
        <p:spPr>
          <a:xfrm>
            <a:off x="6858025" y="106750"/>
            <a:ext cx="3645900" cy="6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# 4. Variable labels (dùng cho Table 1)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var_labels &lt;- list(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Age          = "Age (years)",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Sex          = "Sex",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RestingBP    = "Resting blood pressure (mmHg)",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Cholesterol  = "Serum cholesterol (mg/dl)",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FastingBS    = "Fasting blood sugar",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HeartDisease = "Heart disease" 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# 5. Variables to include in Table 1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vars &lt;- c(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"Age",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"Sex",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"RestingBP",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"Cholesterol",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"FastingBS" 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# 6. Identify categorical variables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cat_vars &lt;- c(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"Sex",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"FastingBS" 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# 7. Create Table 1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table1 &lt;- CreateTableOne(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vars        = vars,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strata      = "HeartDisease",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data        = df,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factorVars  = cat_vars,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addOverall  = TRUE 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# 8. Print Table 1 (publication-ready)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print(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table1,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label        = TRUE,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varLabels    = TRUE,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quote        = FALSE,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noSpaces     = TRUE,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missing      = TRUE,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contDigits   = 1,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catDigits    = 1,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pDigits      = 3,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test         = TRUE 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b783f0365d_0_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2049650"/>
            <a:ext cx="7412275" cy="3162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4" name="Google Shape;164;g3b783f0365d_0_223"/>
          <p:cNvGraphicFramePr/>
          <p:nvPr/>
        </p:nvGraphicFramePr>
        <p:xfrm>
          <a:off x="7503148" y="647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{34AEBC4A-EDDB-4B31-BE80-0B37408F3EF2}</a:tableStyleId>
              </a:tblPr>
              <a:tblGrid>
                <a:gridCol w="1115800"/>
                <a:gridCol w="1115800"/>
                <a:gridCol w="1115800"/>
                <a:gridCol w="1115800"/>
              </a:tblGrid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(N=410)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(N=508)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Overall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(N=918)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Age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Mean (SD)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50.6 (9.44)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55.9 (8.73)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53.5 (9.43)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Median [Min, Max]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51.0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[28.0,76.0]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57.0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[31.0,77.0]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54.0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[28.0,77.0]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Sex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143 (34.9%)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50 (9.8%)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193 (21.0%)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267 (65.1%)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458 (90.2%)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725 (79.0%)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RestingBP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Mean (SD)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130 (16.5)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134 (19.8)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132 (18.5)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Median [Min, Max]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130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[80.0, 190]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132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[0, 200]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130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[0, 200]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Cholesterol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Mean (SD)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227 (74.6)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176 (126)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199 (109)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Median [Min, Max]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227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[0, 564]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217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[0, 603]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223 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[0, 603]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FastingBS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Mean (SD)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0.107 (0.310)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0.335 (0.472)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0.233 (0.423)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Median [Min, Max]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 [0, 1.00]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 [0, 1.00]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 [0, 1.00]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65" name="Google Shape;165;g3b783f0365d_0_223"/>
          <p:cNvCxnSpPr/>
          <p:nvPr/>
        </p:nvCxnSpPr>
        <p:spPr>
          <a:xfrm>
            <a:off x="7308925" y="21350"/>
            <a:ext cx="8100" cy="685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6" name="Google Shape;166;g3b783f0365d_0_2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0325" y="272325"/>
            <a:ext cx="2867025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783f0365d_0_213"/>
          <p:cNvSpPr/>
          <p:nvPr/>
        </p:nvSpPr>
        <p:spPr>
          <a:xfrm>
            <a:off x="150" y="0"/>
            <a:ext cx="12192000" cy="9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55CC"/>
                </a:solidFill>
              </a:rPr>
              <a:t>Take home message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173" name="Google Shape;173;g3b783f0365d_0_213"/>
          <p:cNvSpPr txBox="1"/>
          <p:nvPr/>
        </p:nvSpPr>
        <p:spPr>
          <a:xfrm>
            <a:off x="864300" y="2537875"/>
            <a:ext cx="10463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</a:t>
            </a:r>
            <a:r>
              <a:rPr lang="en-US" sz="2400">
                <a:solidFill>
                  <a:schemeClr val="dk1"/>
                </a:solidFill>
              </a:rPr>
              <a:t>Ngôn ngữ R c</a:t>
            </a:r>
            <a:r>
              <a:rPr lang="en-US" sz="2400">
                <a:solidFill>
                  <a:schemeClr val="dk1"/>
                </a:solidFill>
              </a:rPr>
              <a:t>ó thể ứng dụng cho bất cứ mô hình phân tích thống kê nào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• Ưu điểm: miễn phí, nhưng rất 'mạnh' và linh động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Điểm yếu: cần thời gian để làm quen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783f0365d_0_236"/>
          <p:cNvSpPr/>
          <p:nvPr/>
        </p:nvSpPr>
        <p:spPr>
          <a:xfrm>
            <a:off x="150" y="0"/>
            <a:ext cx="12192000" cy="9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55CC"/>
                </a:solidFill>
              </a:rPr>
              <a:t>Thực hành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180" name="Google Shape;180;g3b783f0365d_0_236"/>
          <p:cNvSpPr txBox="1"/>
          <p:nvPr/>
        </p:nvSpPr>
        <p:spPr>
          <a:xfrm>
            <a:off x="311300" y="1884925"/>
            <a:ext cx="116919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Vào Github: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 u="sng">
                <a:solidFill>
                  <a:srgbClr val="1155CC"/>
                </a:solidFill>
              </a:rPr>
              <a:t>https://github.com/luuloi/Scientific_Research_Introduction_Course</a:t>
            </a:r>
            <a:endParaRPr sz="2400" u="sng">
              <a:solidFill>
                <a:srgbClr val="1155CC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Vào Google Colab bài 5: </a:t>
            </a:r>
            <a:r>
              <a:rPr b="1" lang="en-US" sz="2400">
                <a:solidFill>
                  <a:schemeClr val="dk1"/>
                </a:solidFill>
              </a:rPr>
              <a:t>Xử lý và mô tả số liệu nghiên cứu bằng R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Tạo bản sao colab về drive của bạn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Tải </a:t>
            </a:r>
            <a:r>
              <a:rPr b="1" lang="en-US" sz="2400">
                <a:solidFill>
                  <a:schemeClr val="dk1"/>
                </a:solidFill>
              </a:rPr>
              <a:t>Heart_Data.csv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Đọc file vào R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Lặp lại những thao tác R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>
            <a:gsLst>
              <a:gs pos="0">
                <a:srgbClr val="73C4D9"/>
              </a:gs>
              <a:gs pos="50000">
                <a:srgbClr val="5AC1D8"/>
              </a:gs>
              <a:gs pos="100000">
                <a:srgbClr val="48AFC6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CÁM ƠN SỰ LẮNG NGHE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CỦA QUÝ ANH/CHỊ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ver and End Slide Master">
  <a:themeElements>
    <a:clrScheme name="2019-Medical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0BED4"/>
      </a:accent1>
      <a:accent2>
        <a:srgbClr val="8EDADA"/>
      </a:accent2>
      <a:accent3>
        <a:srgbClr val="AAAAAA"/>
      </a:accent3>
      <a:accent4>
        <a:srgbClr val="D4D4D4"/>
      </a:accent4>
      <a:accent5>
        <a:srgbClr val="60BED4"/>
      </a:accent5>
      <a:accent6>
        <a:srgbClr val="8EDADA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2018-04-24T17:14:44Z</dcterms:created>
  <dc:creator>Allppt.com;Googleslidesppt.com</dc:creator>
</cp:coreProperties>
</file>