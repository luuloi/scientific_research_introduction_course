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5" r:id="rId7"/>
    <p:sldId id="269" r:id="rId8"/>
    <p:sldId id="276" r:id="rId9"/>
    <p:sldId id="261" r:id="rId10"/>
    <p:sldId id="277" r:id="rId11"/>
    <p:sldId id="262" r:id="rId12"/>
    <p:sldId id="264" r:id="rId13"/>
    <p:sldId id="266" r:id="rId14"/>
    <p:sldId id="285" r:id="rId15"/>
    <p:sldId id="278" r:id="rId16"/>
    <p:sldId id="286" r:id="rId17"/>
    <p:sldId id="287" r:id="rId18"/>
    <p:sldId id="281" r:id="rId19"/>
    <p:sldId id="284" r:id="rId20"/>
    <p:sldId id="279" r:id="rId21"/>
    <p:sldId id="280" r:id="rId22"/>
    <p:sldId id="263" r:id="rId23"/>
    <p:sldId id="268" r:id="rId24"/>
    <p:sldId id="273" r:id="rId25"/>
    <p:sldId id="282" r:id="rId26"/>
    <p:sldId id="283" r:id="rId27"/>
    <p:sldId id="2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p:scale>
          <a:sx n="80" d="100"/>
          <a:sy n="80" d="100"/>
        </p:scale>
        <p:origin x="28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B146-B277-0049-DF06-256AAD8E3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3B672-048F-01B3-9EA7-38AA88D27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DDD207-60B0-FFFE-8C0F-052890B061AF}"/>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E719B9DF-27C3-01C5-6C81-349843C26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D806E-B4D4-D00B-FDED-FD5E0CDA8C6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86183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0597-78F9-2293-7DC4-CE13D858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F7A28-0155-0808-CDFF-FFCCBCEDF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F81E5-AB5C-03B6-B05C-5AD55348A6C9}"/>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1152748A-FC3F-EF92-0968-E90C840CF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74E44-8C39-3A0F-68FD-359FFA6393B7}"/>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695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D31D-8453-091E-27B3-D99BE1158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E7D3C-3A0B-0F95-9065-AAD0646AE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2E2ABD-5182-52AE-E4DB-D71850F7747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B71B311E-9D74-CFE4-99AE-7869C5DBF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1BC8A-5439-0CDC-EEDD-5B7AD93EB90E}"/>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40062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C715-C4EE-116F-A89A-E68B945D3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B6FC4-DB15-BE59-B20D-15EDC47106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1F9957-7DFF-7E61-F532-CB089D7F13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5DBCC4-17E0-B12C-B3C6-6EFC7A121AD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E3F4A069-F47E-0762-0E84-68D0BA266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AD41E6-B0F0-17D6-2D12-03DBF978A2D0}"/>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44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F25C-B199-E90C-5A70-8840FDB454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89058-3655-BDE6-F949-D97B07748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45A16-7E9A-7F40-EA28-D03E2ED5F4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3DFCAA-7401-F614-D197-EEDD936DB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8C8527-9CA0-CEA4-D767-8267AE9A1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4EF8F3-13F3-9F61-8ECE-8EBB7C148C8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8" name="Footer Placeholder 7">
            <a:extLst>
              <a:ext uri="{FF2B5EF4-FFF2-40B4-BE49-F238E27FC236}">
                <a16:creationId xmlns:a16="http://schemas.microsoft.com/office/drawing/2014/main" id="{7E6E51C1-2A4D-28B4-4B1F-4119E8E1C3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01CC5-DE67-B861-2E31-EA39E55325F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10680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4356-FACE-DB4A-065B-0A57B01260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6F20D9-174D-FFFB-6781-D4D43B4C1C8E}"/>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4" name="Footer Placeholder 3">
            <a:extLst>
              <a:ext uri="{FF2B5EF4-FFF2-40B4-BE49-F238E27FC236}">
                <a16:creationId xmlns:a16="http://schemas.microsoft.com/office/drawing/2014/main" id="{A020C08D-1B7E-9966-8AF4-7C4F86344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FA8C89-ACAB-0F03-C591-0FF0600EEC3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87052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55058F-249E-1954-33E2-A437BCB23BDB}"/>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3" name="Footer Placeholder 2">
            <a:extLst>
              <a:ext uri="{FF2B5EF4-FFF2-40B4-BE49-F238E27FC236}">
                <a16:creationId xmlns:a16="http://schemas.microsoft.com/office/drawing/2014/main" id="{9789C86F-45A1-D972-6986-D7A3443F16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FEFEA6-539A-89D1-A001-70E35DCF4DC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41651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7B83-1ED8-2FA4-7BA8-F2E087388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DA6BE-114E-5DA4-445B-65F128656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1E913-E042-BD2B-01DC-71041B49D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59F31-0FB9-8027-83FB-9260016C92B2}"/>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2316ABF5-DF3F-797F-2326-34F9ECBE3A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5C539-6A5D-76D5-3EDB-0EC052AE67FB}"/>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10780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4421-8069-8B23-CC36-BE6C9114A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4EA29-E536-1077-C8AB-E8A865AF3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3693DA-AB6C-38A5-24FE-387CEC6B1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8D337-E8BB-2E54-C0B8-86C1E3391E38}"/>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D4EB3558-EB42-EC1E-3F48-26D2E5A6C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740C6-D8DC-44B8-5FC7-CC8B36B3B793}"/>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7847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9901-2569-CC3F-392C-2AEC640B00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8DC888-6D37-F6EF-016E-4F330A5F4B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4AC61-E557-CE61-EF14-E34A2367718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D7CEF27B-C0CF-B2C2-53AD-0F09AC5D8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90BED-3AAA-7ECC-140E-5E37BBEB4FE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22594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F5766-80A0-AA70-76D4-2C633D6ADD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31A5E4-3491-98D5-7225-FF2AA9D496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CA28E-ADD1-3689-9BDB-58A5FE4C208A}"/>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A85BE42F-4F8B-93EC-17AD-B5A2042E3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1C1258-908B-B92D-811A-46C61833004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6419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B27F8-ADE6-FA52-6A55-986CA0A5D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0B9D977-F595-84DD-CC74-89A5F4DBB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B4068D-9921-204C-A0F7-7AC8E4EF4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DA55F03B-EE6B-4ABD-A4A8-410BE423E79F}" type="datetimeFigureOut">
              <a:rPr lang="en-US" smtClean="0"/>
              <a:pPr/>
              <a:t>1/10/2026</a:t>
            </a:fld>
            <a:endParaRPr lang="en-US" dirty="0"/>
          </a:p>
        </p:txBody>
      </p:sp>
      <p:sp>
        <p:nvSpPr>
          <p:cNvPr id="5" name="Footer Placeholder 4">
            <a:extLst>
              <a:ext uri="{FF2B5EF4-FFF2-40B4-BE49-F238E27FC236}">
                <a16:creationId xmlns:a16="http://schemas.microsoft.com/office/drawing/2014/main" id="{B935ACB3-722A-43BF-C6AC-CA51C16D6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B9453A4D-637C-A423-4643-4891FE7C9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F118974-6F83-4BD3-832E-72C67BB1B867}" type="slidenum">
              <a:rPr lang="en-US" smtClean="0"/>
              <a:pPr/>
              <a:t>‹#›</a:t>
            </a:fld>
            <a:endParaRPr lang="en-US" dirty="0"/>
          </a:p>
        </p:txBody>
      </p:sp>
    </p:spTree>
    <p:extLst>
      <p:ext uri="{BB962C8B-B14F-4D97-AF65-F5344CB8AC3E}">
        <p14:creationId xmlns:p14="http://schemas.microsoft.com/office/powerpoint/2010/main" val="3308418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D242-4F7E-6812-9B82-C9AD79E61818}"/>
              </a:ext>
            </a:extLst>
          </p:cNvPr>
          <p:cNvSpPr>
            <a:spLocks noGrp="1"/>
          </p:cNvSpPr>
          <p:nvPr>
            <p:ph type="ctrTitle"/>
          </p:nvPr>
        </p:nvSpPr>
        <p:spPr>
          <a:xfrm>
            <a:off x="1057837" y="1497910"/>
            <a:ext cx="10177929" cy="1892386"/>
          </a:xfrm>
        </p:spPr>
        <p:txBody>
          <a:bodyPr>
            <a:normAutofit/>
          </a:bodyPr>
          <a:lstStyle/>
          <a:p>
            <a:r>
              <a:rPr lang="en-US" sz="4000" b="1" i="0" dirty="0" err="1">
                <a:solidFill>
                  <a:srgbClr val="1F2328"/>
                </a:solidFill>
                <a:effectLst/>
                <a:latin typeface="Times New Roman" panose="02020603050405020304" pitchFamily="18" charset="0"/>
                <a:cs typeface="Times New Roman" panose="02020603050405020304" pitchFamily="18" charset="0"/>
              </a:rPr>
              <a:t>Bài</a:t>
            </a:r>
            <a:r>
              <a:rPr lang="en-US" sz="4000" b="1" i="0" dirty="0">
                <a:solidFill>
                  <a:srgbClr val="1F2328"/>
                </a:solidFill>
                <a:effectLst/>
                <a:latin typeface="Times New Roman" panose="02020603050405020304" pitchFamily="18" charset="0"/>
                <a:cs typeface="Times New Roman" panose="02020603050405020304" pitchFamily="18" charset="0"/>
              </a:rPr>
              <a:t> 3</a:t>
            </a:r>
            <a:br>
              <a:rPr lang="en-US" sz="4000" b="1" i="0" dirty="0">
                <a:solidFill>
                  <a:srgbClr val="1F2328"/>
                </a:solidFill>
                <a:effectLst/>
                <a:latin typeface="Times New Roman" panose="02020603050405020304" pitchFamily="18" charset="0"/>
                <a:cs typeface="Times New Roman" panose="02020603050405020304" pitchFamily="18" charset="0"/>
              </a:rPr>
            </a:br>
            <a:r>
              <a:rPr lang="vi-VN" sz="4400" b="1" i="0" dirty="0">
                <a:solidFill>
                  <a:srgbClr val="0070C0"/>
                </a:solidFill>
                <a:effectLst/>
                <a:latin typeface="Times New Roman" panose="02020603050405020304" pitchFamily="18" charset="0"/>
                <a:cs typeface="Times New Roman" panose="02020603050405020304" pitchFamily="18" charset="0"/>
              </a:rPr>
              <a:t>Thiết kế nghiên cứu và ước lượng cỡ mẫu</a:t>
            </a:r>
            <a:endParaRPr lang="en-US" sz="4400"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F14DA3-7F61-76B0-4A6A-FD3CE304710E}"/>
              </a:ext>
            </a:extLst>
          </p:cNvPr>
          <p:cNvSpPr>
            <a:spLocks noGrp="1"/>
          </p:cNvSpPr>
          <p:nvPr>
            <p:ph type="subTitle" idx="1"/>
          </p:nvPr>
        </p:nvSpPr>
        <p:spPr>
          <a:xfrm>
            <a:off x="1579420" y="4428751"/>
            <a:ext cx="9144000" cy="1655762"/>
          </a:xfrm>
        </p:spPr>
        <p:txBody>
          <a:bodyPr>
            <a:normAutofit lnSpcReduction="10000"/>
          </a:bodyPr>
          <a:lstStyle/>
          <a:p>
            <a:r>
              <a:rPr lang="en-GB" dirty="0">
                <a:latin typeface="Times New Roman" panose="02020603050405020304" pitchFamily="18" charset="0"/>
                <a:cs typeface="Times New Roman" panose="02020603050405020304" pitchFamily="18" charset="0"/>
              </a:rPr>
              <a:t>TS. </a:t>
            </a:r>
            <a:r>
              <a:rPr lang="en-GB" dirty="0" err="1">
                <a:latin typeface="Times New Roman" panose="02020603050405020304" pitchFamily="18" charset="0"/>
                <a:cs typeface="Times New Roman" panose="02020603050405020304" pitchFamily="18" charset="0"/>
              </a:rPr>
              <a:t>Lưu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Phúc</a:t>
            </a:r>
            <a:r>
              <a:rPr lang="en-GB" dirty="0">
                <a:latin typeface="Times New Roman" panose="02020603050405020304" pitchFamily="18" charset="0"/>
                <a:cs typeface="Times New Roman" panose="02020603050405020304" pitchFamily="18" charset="0"/>
              </a:rPr>
              <a:t> Lợi</a:t>
            </a:r>
          </a:p>
          <a:p>
            <a:pPr>
              <a:lnSpc>
                <a:spcPct val="110000"/>
              </a:lnSpc>
            </a:pPr>
            <a:r>
              <a:rPr lang="vi-VN" b="1" dirty="0">
                <a:solidFill>
                  <a:srgbClr val="0070C0"/>
                </a:solidFill>
                <a:latin typeface="Times New Roman" panose="02020603050405020304" pitchFamily="18" charset="0"/>
                <a:cs typeface="Times New Roman" panose="02020603050405020304" pitchFamily="18" charset="0"/>
              </a:rPr>
              <a:t>Viện Nghiên cứu Ứng dụng Khoa học Sức khỏe và Lão hóa (ARiHA)</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Bệnh</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viện</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Thống</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Nhất</a:t>
            </a:r>
            <a:br>
              <a:rPr lang="en-GB" b="1" dirty="0">
                <a:solidFill>
                  <a:srgbClr val="0070C0"/>
                </a:solidFill>
                <a:latin typeface="Times New Roman" panose="02020603050405020304" pitchFamily="18" charset="0"/>
                <a:cs typeface="Times New Roman" panose="02020603050405020304" pitchFamily="18" charset="0"/>
              </a:rPr>
            </a:br>
            <a:r>
              <a:rPr lang="fr-FR" dirty="0">
                <a:solidFill>
                  <a:srgbClr val="0070C0"/>
                </a:solidFill>
                <a:latin typeface="Times New Roman" panose="02020603050405020304" pitchFamily="18" charset="0"/>
                <a:cs typeface="Times New Roman" panose="02020603050405020304" pitchFamily="18" charset="0"/>
              </a:rPr>
              <a:t>Email: loilp@bvtn.org.vn, </a:t>
            </a:r>
            <a:r>
              <a:rPr lang="fr-FR" dirty="0" err="1">
                <a:solidFill>
                  <a:srgbClr val="0070C0"/>
                </a:solidFill>
                <a:latin typeface="Times New Roman" panose="02020603050405020304" pitchFamily="18" charset="0"/>
                <a:cs typeface="Times New Roman" panose="02020603050405020304" pitchFamily="18" charset="0"/>
              </a:rPr>
              <a:t>Zalo</a:t>
            </a:r>
            <a:r>
              <a:rPr lang="fr-FR" dirty="0">
                <a:solidFill>
                  <a:srgbClr val="0070C0"/>
                </a:solidFill>
                <a:latin typeface="Times New Roman" panose="02020603050405020304" pitchFamily="18" charset="0"/>
                <a:cs typeface="Times New Roman" panose="02020603050405020304" pitchFamily="18" charset="0"/>
              </a:rPr>
              <a:t>: 0901802182</a:t>
            </a:r>
          </a:p>
          <a:p>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4" name="Google Shape;56;p13">
            <a:extLst>
              <a:ext uri="{FF2B5EF4-FFF2-40B4-BE49-F238E27FC236}">
                <a16:creationId xmlns:a16="http://schemas.microsoft.com/office/drawing/2014/main" id="{57D9ABDD-43B2-5F22-A1EF-61BC464024D8}"/>
              </a:ext>
            </a:extLst>
          </p:cNvPr>
          <p:cNvPicPr preferRelativeResize="0"/>
          <p:nvPr/>
        </p:nvPicPr>
        <p:blipFill>
          <a:blip r:embed="rId2">
            <a:alphaModFix/>
          </a:blip>
          <a:stretch>
            <a:fillRect/>
          </a:stretch>
        </p:blipFill>
        <p:spPr>
          <a:xfrm>
            <a:off x="125420" y="85608"/>
            <a:ext cx="1454000" cy="1429088"/>
          </a:xfrm>
          <a:prstGeom prst="rect">
            <a:avLst/>
          </a:prstGeom>
          <a:noFill/>
          <a:ln>
            <a:noFill/>
          </a:ln>
        </p:spPr>
      </p:pic>
      <p:pic>
        <p:nvPicPr>
          <p:cNvPr id="5" name="Google Shape;57;p13">
            <a:extLst>
              <a:ext uri="{FF2B5EF4-FFF2-40B4-BE49-F238E27FC236}">
                <a16:creationId xmlns:a16="http://schemas.microsoft.com/office/drawing/2014/main" id="{FB41C57B-674F-F510-5CB8-8B5A336385E3}"/>
              </a:ext>
            </a:extLst>
          </p:cNvPr>
          <p:cNvPicPr preferRelativeResize="0"/>
          <p:nvPr/>
        </p:nvPicPr>
        <p:blipFill>
          <a:blip r:embed="rId3">
            <a:alphaModFix/>
          </a:blip>
          <a:stretch>
            <a:fillRect/>
          </a:stretch>
        </p:blipFill>
        <p:spPr>
          <a:xfrm>
            <a:off x="10643219" y="85608"/>
            <a:ext cx="1378322" cy="1377430"/>
          </a:xfrm>
          <a:prstGeom prst="rect">
            <a:avLst/>
          </a:prstGeom>
          <a:noFill/>
          <a:ln>
            <a:noFill/>
          </a:ln>
        </p:spPr>
      </p:pic>
      <p:pic>
        <p:nvPicPr>
          <p:cNvPr id="6" name="Picture 6" descr="Profil untuk Tuyển dụng Bệnh viện Gia An 115">
            <a:extLst>
              <a:ext uri="{FF2B5EF4-FFF2-40B4-BE49-F238E27FC236}">
                <a16:creationId xmlns:a16="http://schemas.microsoft.com/office/drawing/2014/main" id="{31AFEDF5-D05F-748C-A149-B3281FAD9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6776" y="85608"/>
            <a:ext cx="1429087" cy="1429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54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Nội</a:t>
            </a:r>
            <a:r>
              <a:rPr lang="en-GB" dirty="0">
                <a:latin typeface="Times New Roman" panose="02020603050405020304" pitchFamily="18" charset="0"/>
                <a:cs typeface="Times New Roman" panose="02020603050405020304" pitchFamily="18" charset="0"/>
              </a:rPr>
              <a:t> dung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lstStyle/>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1: CÁC THIẾT KẾ NGHIÊN CỨU Y SINH PHỔ BIẾN</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2: </a:t>
            </a:r>
            <a:r>
              <a:rPr lang="vi-VN" dirty="0">
                <a:latin typeface="Times New Roman" panose="02020603050405020304" pitchFamily="18" charset="0"/>
                <a:cs typeface="Times New Roman" panose="02020603050405020304" pitchFamily="18" charset="0"/>
              </a:rPr>
              <a:t>ƯỚC LƯỢNG CỠ MẪU (SAMPLE SIZE ESTIMATION)</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3: </a:t>
            </a:r>
            <a:r>
              <a:rPr lang="en-US" dirty="0"/>
              <a:t>TÌNH HUỐNG THỰC HÀNH TỔNG HỢP</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4: TRÍCH DẪN Y VĂN TRONG NGHIÊN CỨU KHOA HỌC</a:t>
            </a:r>
          </a:p>
        </p:txBody>
      </p:sp>
    </p:spTree>
    <p:extLst>
      <p:ext uri="{BB962C8B-B14F-4D97-AF65-F5344CB8AC3E}">
        <p14:creationId xmlns:p14="http://schemas.microsoft.com/office/powerpoint/2010/main" val="17474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1: CÁC THIẾT KẾ NGHIÊN CỨU Y SINH PHỔ BIẾN</a:t>
            </a:r>
          </a:p>
          <a:p>
            <a:pPr marL="0" indent="0" algn="ctr">
              <a:lnSpc>
                <a:spcPct val="150000"/>
              </a:lnSpc>
              <a:buNone/>
            </a:pP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309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45601"/>
            <a:ext cx="10515600" cy="860051"/>
          </a:xfrm>
        </p:spPr>
        <p:txBody>
          <a:bodyPr>
            <a:normAutofit/>
          </a:bodyPr>
          <a:lstStyle/>
          <a:p>
            <a:pPr algn="ctr"/>
            <a:r>
              <a:rPr lang="en-US" sz="3600" b="1" dirty="0" err="1">
                <a:cs typeface="Times New Roman" panose="02020603050405020304" pitchFamily="18" charset="0"/>
              </a:rPr>
              <a:t>Phân</a:t>
            </a:r>
            <a:r>
              <a:rPr lang="en-US" sz="3600" b="1" dirty="0">
                <a:cs typeface="Times New Roman" panose="02020603050405020304" pitchFamily="18" charset="0"/>
              </a:rPr>
              <a:t> </a:t>
            </a:r>
            <a:r>
              <a:rPr lang="en-US" sz="3600" b="1" dirty="0" err="1">
                <a:cs typeface="Times New Roman" panose="02020603050405020304" pitchFamily="18" charset="0"/>
              </a:rPr>
              <a:t>loại</a:t>
            </a:r>
            <a:r>
              <a:rPr lang="en-US" sz="3600" b="1" dirty="0">
                <a:cs typeface="Times New Roman" panose="02020603050405020304" pitchFamily="18" charset="0"/>
              </a:rPr>
              <a:t> </a:t>
            </a:r>
            <a:r>
              <a:rPr lang="en-US" sz="3600" b="1" dirty="0" err="1">
                <a:cs typeface="Times New Roman" panose="02020603050405020304" pitchFamily="18" charset="0"/>
              </a:rPr>
              <a:t>thiết</a:t>
            </a:r>
            <a:r>
              <a:rPr lang="en-US" sz="3600" b="1" dirty="0">
                <a:cs typeface="Times New Roman" panose="02020603050405020304" pitchFamily="18" charset="0"/>
              </a:rPr>
              <a:t> </a:t>
            </a:r>
            <a:r>
              <a:rPr lang="en-US" sz="3600" b="1" dirty="0" err="1">
                <a:cs typeface="Times New Roman" panose="02020603050405020304" pitchFamily="18" charset="0"/>
              </a:rPr>
              <a:t>kế</a:t>
            </a:r>
            <a:r>
              <a:rPr lang="en-US" sz="3600" b="1" dirty="0">
                <a:cs typeface="Times New Roman" panose="02020603050405020304" pitchFamily="18" charset="0"/>
              </a:rPr>
              <a:t> </a:t>
            </a:r>
            <a:r>
              <a:rPr lang="en-US" sz="3600" b="1" dirty="0" err="1">
                <a:cs typeface="Times New Roman" panose="02020603050405020304" pitchFamily="18" charset="0"/>
              </a:rPr>
              <a:t>nghiên</a:t>
            </a:r>
            <a:r>
              <a:rPr lang="en-US" sz="3600" b="1" dirty="0">
                <a:cs typeface="Times New Roman" panose="02020603050405020304" pitchFamily="18" charset="0"/>
              </a:rPr>
              <a:t> </a:t>
            </a:r>
            <a:r>
              <a:rPr lang="en-US" sz="3600" b="1" dirty="0" err="1">
                <a:cs typeface="Times New Roman" panose="02020603050405020304" pitchFamily="18" charset="0"/>
              </a:rPr>
              <a:t>cứu</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621553" y="1368612"/>
            <a:ext cx="10732247" cy="4972423"/>
          </a:xfrm>
        </p:spPr>
        <p:txBody>
          <a:bodyPr>
            <a:normAutofit fontScale="92500"/>
          </a:bodyPr>
          <a:lstStyle/>
          <a:p>
            <a:pPr algn="just">
              <a:lnSpc>
                <a:spcPct val="100000"/>
              </a:lnSpc>
            </a:pPr>
            <a:r>
              <a:rPr lang="vi-VN" b="1" dirty="0">
                <a:latin typeface="+mj-lt"/>
                <a:cs typeface="Times New Roman" panose="02020603050405020304" pitchFamily="18" charset="0"/>
              </a:rPr>
              <a:t>Nghiên cứu quan sát (Observational)</a:t>
            </a:r>
            <a:r>
              <a:rPr lang="vi-VN" dirty="0">
                <a:latin typeface="+mj-lt"/>
                <a:cs typeface="Times New Roman" panose="02020603050405020304" pitchFamily="18" charset="0"/>
              </a:rPr>
              <a:t>: Nhà nghiên cứu không can thiệp, chỉ quan sát và ghi nhận.</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Báo cáo ca/Chuỗi ca bệnh (Case report/Case series)</a:t>
            </a:r>
            <a:r>
              <a:rPr lang="vi-VN" dirty="0">
                <a:latin typeface="+mj-lt"/>
                <a:cs typeface="Times New Roman" panose="02020603050405020304" pitchFamily="18" charset="0"/>
              </a:rPr>
              <a:t>: Mô tả các trường hợp hiếm.</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Cắt ngang (Cross-sectional)</a:t>
            </a:r>
            <a:r>
              <a:rPr lang="vi-VN" dirty="0">
                <a:latin typeface="+mj-lt"/>
                <a:cs typeface="Times New Roman" panose="02020603050405020304" pitchFamily="18" charset="0"/>
              </a:rPr>
              <a:t>: Thu thập dữ liệu tại một thời điểm (như một bức ảnh chụp nhanh).</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Bệnh chứng (Case-control)</a:t>
            </a:r>
            <a:r>
              <a:rPr lang="vi-VN" dirty="0">
                <a:latin typeface="+mj-lt"/>
                <a:cs typeface="Times New Roman" panose="02020603050405020304" pitchFamily="18" charset="0"/>
              </a:rPr>
              <a:t>: Đi ngược từ hậu quả (bệnh) tìm nguyên nhân (tiếp xúc).</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Đoàn hệ (Cohort)</a:t>
            </a:r>
            <a:r>
              <a:rPr lang="vi-VN" dirty="0">
                <a:latin typeface="+mj-lt"/>
                <a:cs typeface="Times New Roman" panose="02020603050405020304" pitchFamily="18" charset="0"/>
              </a:rPr>
              <a:t>: Đi từ nguyên nhân (tiếp xúc) theo dõi đến hậu quả (bệnh).</a:t>
            </a:r>
            <a:endParaRPr lang="en-GB" dirty="0">
              <a:latin typeface="+mj-lt"/>
              <a:cs typeface="Times New Roman" panose="02020603050405020304" pitchFamily="18" charset="0"/>
            </a:endParaRPr>
          </a:p>
          <a:p>
            <a:pPr algn="just">
              <a:lnSpc>
                <a:spcPct val="100000"/>
              </a:lnSpc>
            </a:pPr>
            <a:r>
              <a:rPr lang="vi-VN" b="1" dirty="0">
                <a:latin typeface="+mj-lt"/>
                <a:cs typeface="Times New Roman" panose="02020603050405020304" pitchFamily="18" charset="0"/>
              </a:rPr>
              <a:t>Nghiên cứu can thiệp (Experimental/Interventional)</a:t>
            </a:r>
            <a:r>
              <a:rPr lang="vi-VN" dirty="0">
                <a:latin typeface="+mj-lt"/>
                <a:cs typeface="Times New Roman" panose="02020603050405020304" pitchFamily="18" charset="0"/>
              </a:rPr>
              <a:t>: Nhà nghiên cứu chủ động tác động (cho dùng thuốc, phẫu thuật...) để xem kết quả.</a:t>
            </a:r>
            <a:endParaRPr lang="en-GB" dirty="0">
              <a:latin typeface="+mj-lt"/>
              <a:cs typeface="Times New Roman" panose="02020603050405020304" pitchFamily="18" charset="0"/>
            </a:endParaRPr>
          </a:p>
          <a:p>
            <a:pPr lvl="1" algn="just">
              <a:lnSpc>
                <a:spcPct val="100000"/>
              </a:lnSpc>
              <a:buFont typeface="Wingdings" panose="05000000000000000000" pitchFamily="2" charset="2"/>
              <a:buChar char="§"/>
            </a:pPr>
            <a:r>
              <a:rPr lang="vi-VN" b="1" dirty="0">
                <a:latin typeface="+mj-lt"/>
                <a:cs typeface="Times New Roman" panose="02020603050405020304" pitchFamily="18" charset="0"/>
              </a:rPr>
              <a:t>Thử nghiệm lâm sàng ngẫu nhiên có đối chứng (RCT)</a:t>
            </a:r>
            <a:r>
              <a:rPr lang="vi-VN" dirty="0">
                <a:latin typeface="+mj-lt"/>
                <a:cs typeface="Times New Roman" panose="02020603050405020304" pitchFamily="18" charset="0"/>
              </a:rPr>
              <a:t>: Tiêu chuẩn vàng để đánh giá hiệu quả điều trị.</a:t>
            </a:r>
            <a:endParaRPr lang="en-GB" dirty="0">
              <a:latin typeface="+mj-lt"/>
            </a:endParaRPr>
          </a:p>
        </p:txBody>
      </p:sp>
    </p:spTree>
    <p:extLst>
      <p:ext uri="{BB962C8B-B14F-4D97-AF65-F5344CB8AC3E}">
        <p14:creationId xmlns:p14="http://schemas.microsoft.com/office/powerpoint/2010/main" val="291157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0F5FF3-8290-E400-65AF-D05F48B63A7F}"/>
              </a:ext>
            </a:extLst>
          </p:cNvPr>
          <p:cNvPicPr>
            <a:picLocks noChangeAspect="1"/>
          </p:cNvPicPr>
          <p:nvPr/>
        </p:nvPicPr>
        <p:blipFill>
          <a:blip r:embed="rId2"/>
          <a:stretch>
            <a:fillRect/>
          </a:stretch>
        </p:blipFill>
        <p:spPr>
          <a:xfrm>
            <a:off x="432597" y="1300629"/>
            <a:ext cx="11326806" cy="4029637"/>
          </a:xfrm>
          <a:prstGeom prst="rect">
            <a:avLst/>
          </a:prstGeom>
        </p:spPr>
      </p:pic>
    </p:spTree>
    <p:extLst>
      <p:ext uri="{BB962C8B-B14F-4D97-AF65-F5344CB8AC3E}">
        <p14:creationId xmlns:p14="http://schemas.microsoft.com/office/powerpoint/2010/main" val="89499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98E4F10-95EC-15C7-AD72-4710F0F88990}"/>
              </a:ext>
            </a:extLst>
          </p:cNvPr>
          <p:cNvPicPr>
            <a:picLocks noChangeAspect="1"/>
          </p:cNvPicPr>
          <p:nvPr/>
        </p:nvPicPr>
        <p:blipFill>
          <a:blip r:embed="rId2"/>
          <a:stretch>
            <a:fillRect/>
          </a:stretch>
        </p:blipFill>
        <p:spPr>
          <a:xfrm>
            <a:off x="427834" y="1199839"/>
            <a:ext cx="11336332" cy="4458322"/>
          </a:xfrm>
          <a:prstGeom prst="rect">
            <a:avLst/>
          </a:prstGeom>
        </p:spPr>
      </p:pic>
    </p:spTree>
    <p:extLst>
      <p:ext uri="{BB962C8B-B14F-4D97-AF65-F5344CB8AC3E}">
        <p14:creationId xmlns:p14="http://schemas.microsoft.com/office/powerpoint/2010/main" val="407347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255BD0-1D1E-DB47-2912-71BE54506E00}"/>
              </a:ext>
            </a:extLst>
          </p:cNvPr>
          <p:cNvPicPr>
            <a:picLocks noChangeAspect="1"/>
          </p:cNvPicPr>
          <p:nvPr/>
        </p:nvPicPr>
        <p:blipFill>
          <a:blip r:embed="rId2"/>
          <a:stretch>
            <a:fillRect/>
          </a:stretch>
        </p:blipFill>
        <p:spPr>
          <a:xfrm>
            <a:off x="461176" y="1376076"/>
            <a:ext cx="11269648" cy="4105848"/>
          </a:xfrm>
          <a:prstGeom prst="rect">
            <a:avLst/>
          </a:prstGeom>
        </p:spPr>
      </p:pic>
    </p:spTree>
    <p:extLst>
      <p:ext uri="{BB962C8B-B14F-4D97-AF65-F5344CB8AC3E}">
        <p14:creationId xmlns:p14="http://schemas.microsoft.com/office/powerpoint/2010/main" val="549439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E30153-0732-BCB1-EBC2-5542BA29C0B3}"/>
              </a:ext>
            </a:extLst>
          </p:cNvPr>
          <p:cNvPicPr>
            <a:picLocks noChangeAspect="1"/>
          </p:cNvPicPr>
          <p:nvPr/>
        </p:nvPicPr>
        <p:blipFill>
          <a:blip r:embed="rId2"/>
          <a:stretch>
            <a:fillRect/>
          </a:stretch>
        </p:blipFill>
        <p:spPr>
          <a:xfrm>
            <a:off x="418307" y="1117784"/>
            <a:ext cx="11355385" cy="4048690"/>
          </a:xfrm>
          <a:prstGeom prst="rect">
            <a:avLst/>
          </a:prstGeom>
        </p:spPr>
      </p:pic>
    </p:spTree>
    <p:extLst>
      <p:ext uri="{BB962C8B-B14F-4D97-AF65-F5344CB8AC3E}">
        <p14:creationId xmlns:p14="http://schemas.microsoft.com/office/powerpoint/2010/main" val="403494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413257"/>
            <a:ext cx="10515600" cy="4351338"/>
          </a:xfrm>
        </p:spPr>
        <p:txBody>
          <a:bodyPr>
            <a:normAutofit/>
          </a:bodyPr>
          <a:lstStyle/>
          <a:p>
            <a:pPr algn="just">
              <a:lnSpc>
                <a:spcPct val="150000"/>
              </a:lnSpc>
            </a:pPr>
            <a:r>
              <a:rPr lang="vi-VN" b="1" dirty="0"/>
              <a:t>Tình huống:</a:t>
            </a:r>
            <a:r>
              <a:rPr lang="vi-VN" dirty="0"/>
              <a:t> Bạn muốn tìm hiểu xem việc sử dụng thuốc lá điện tử có liên quan đến bệnh viêm phổi cấp hay không.</a:t>
            </a:r>
            <a:endParaRPr lang="en-GB" dirty="0"/>
          </a:p>
          <a:p>
            <a:pPr algn="just">
              <a:lnSpc>
                <a:spcPct val="150000"/>
              </a:lnSpc>
            </a:pPr>
            <a:r>
              <a:rPr lang="en-GB" dirty="0" err="1"/>
              <a:t>Hãy</a:t>
            </a:r>
            <a:r>
              <a:rPr lang="en-GB" dirty="0"/>
              <a:t> </a:t>
            </a:r>
            <a:r>
              <a:rPr lang="en-GB" dirty="0" err="1"/>
              <a:t>thiết</a:t>
            </a:r>
            <a:r>
              <a:rPr lang="en-GB" dirty="0"/>
              <a:t> </a:t>
            </a:r>
            <a:r>
              <a:rPr lang="en-GB" dirty="0" err="1"/>
              <a:t>kế</a:t>
            </a:r>
            <a:r>
              <a:rPr lang="en-GB" dirty="0"/>
              <a:t> </a:t>
            </a:r>
            <a:r>
              <a:rPr lang="en-GB" dirty="0" err="1"/>
              <a:t>nghiên</a:t>
            </a:r>
            <a:r>
              <a:rPr lang="en-GB" dirty="0"/>
              <a:t> </a:t>
            </a:r>
            <a:r>
              <a:rPr lang="en-GB" dirty="0" err="1"/>
              <a:t>cứu</a:t>
            </a:r>
            <a:r>
              <a:rPr lang="en-GB" dirty="0"/>
              <a:t>:</a:t>
            </a:r>
            <a:endParaRPr lang="vi-VN" dirty="0"/>
          </a:p>
          <a:p>
            <a:pPr lvl="1" algn="just">
              <a:lnSpc>
                <a:spcPct val="150000"/>
              </a:lnSpc>
              <a:buFont typeface="Wingdings" panose="05000000000000000000" pitchFamily="2" charset="2"/>
              <a:buChar char="§"/>
            </a:pPr>
            <a:r>
              <a:rPr lang="vi-VN" sz="2800" b="1" dirty="0"/>
              <a:t>Nếu chọn Cắt ngang</a:t>
            </a:r>
            <a:r>
              <a:rPr lang="en-GB" sz="2800" b="1" dirty="0"/>
              <a:t>?</a:t>
            </a:r>
          </a:p>
          <a:p>
            <a:pPr lvl="1" algn="just">
              <a:lnSpc>
                <a:spcPct val="150000"/>
              </a:lnSpc>
              <a:buFont typeface="Wingdings" panose="05000000000000000000" pitchFamily="2" charset="2"/>
              <a:buChar char="§"/>
            </a:pPr>
            <a:r>
              <a:rPr lang="vi-VN" sz="2800" b="1" dirty="0"/>
              <a:t>Nếu chọn Bệnh chứng</a:t>
            </a:r>
            <a:r>
              <a:rPr lang="en-GB" sz="2800" b="1" dirty="0"/>
              <a:t>?</a:t>
            </a:r>
          </a:p>
          <a:p>
            <a:pPr lvl="1" algn="just">
              <a:lnSpc>
                <a:spcPct val="150000"/>
              </a:lnSpc>
              <a:buFont typeface="Wingdings" panose="05000000000000000000" pitchFamily="2" charset="2"/>
              <a:buChar char="§"/>
            </a:pPr>
            <a:r>
              <a:rPr lang="vi-VN" sz="2800" b="1" dirty="0"/>
              <a:t>Nếu chọn Đoàn hệ</a:t>
            </a:r>
            <a:r>
              <a:rPr lang="en-GB" sz="2800" b="1" dirty="0"/>
              <a:t>?</a:t>
            </a:r>
            <a:endParaRPr lang="vi-VN" sz="2800" dirty="0"/>
          </a:p>
        </p:txBody>
      </p:sp>
    </p:spTree>
    <p:extLst>
      <p:ext uri="{BB962C8B-B14F-4D97-AF65-F5344CB8AC3E}">
        <p14:creationId xmlns:p14="http://schemas.microsoft.com/office/powerpoint/2010/main" val="391856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502901"/>
            <a:ext cx="10515600" cy="4351338"/>
          </a:xfrm>
        </p:spPr>
        <p:txBody>
          <a:bodyPr>
            <a:normAutofit/>
          </a:bodyPr>
          <a:lstStyle/>
          <a:p>
            <a:pPr algn="just"/>
            <a:r>
              <a:rPr lang="vi-VN" b="1" dirty="0"/>
              <a:t>Tình huống:</a:t>
            </a:r>
            <a:r>
              <a:rPr lang="vi-VN" dirty="0"/>
              <a:t> Bạn muốn tìm hiểu xem việc sử dụng thuốc lá điện tử có liên quan đến bệnh viêm phổi cấp hay không.</a:t>
            </a:r>
          </a:p>
          <a:p>
            <a:pPr algn="just">
              <a:buFont typeface="Arial" panose="020B0604020202020204" pitchFamily="34" charset="0"/>
              <a:buChar char="•"/>
            </a:pPr>
            <a:r>
              <a:rPr lang="vi-VN" b="1" dirty="0"/>
              <a:t>Nếu chọn Cắt ngang:</a:t>
            </a:r>
            <a:r>
              <a:rPr lang="vi-VN" dirty="0"/>
              <a:t> Bạn khảo sát 1000 thanh niên, hỏi họ có hút thuốc điện tử không và có đang viêm phổi không</a:t>
            </a:r>
            <a:r>
              <a:rPr lang="en-GB" dirty="0"/>
              <a:t> </a:t>
            </a:r>
            <a:r>
              <a:rPr lang="en-GB" dirty="0">
                <a:sym typeface="Wingdings" panose="05000000000000000000" pitchFamily="2" charset="2"/>
              </a:rPr>
              <a:t> </a:t>
            </a:r>
            <a:r>
              <a:rPr lang="vi-VN" dirty="0"/>
              <a:t>Nhanh, nhưng không biết cái nào có trước.</a:t>
            </a:r>
          </a:p>
          <a:p>
            <a:pPr algn="just">
              <a:buFont typeface="Arial" panose="020B0604020202020204" pitchFamily="34" charset="0"/>
              <a:buChar char="•"/>
            </a:pPr>
            <a:r>
              <a:rPr lang="vi-VN" b="1" dirty="0"/>
              <a:t>Nếu chọn Bệnh chứng:</a:t>
            </a:r>
            <a:r>
              <a:rPr lang="vi-VN" dirty="0"/>
              <a:t> Bạn tìm 100 người viêm phổi và 100 người khỏe mạnh, sau đó hỏi về tiền sử hút thuốc điện tử của họ trong quá khứ.</a:t>
            </a:r>
          </a:p>
          <a:p>
            <a:pPr algn="just">
              <a:buFont typeface="Arial" panose="020B0604020202020204" pitchFamily="34" charset="0"/>
              <a:buChar char="•"/>
            </a:pPr>
            <a:r>
              <a:rPr lang="vi-VN" b="1" dirty="0"/>
              <a:t>Nếu chọn Đoàn hệ:</a:t>
            </a:r>
            <a:r>
              <a:rPr lang="vi-VN" dirty="0"/>
              <a:t> Bạn theo dõi 500 người hút thuốc điện tử và 500 người không hút trong vòng 2 năm để xem ai sẽ bị viêm phổi.</a:t>
            </a:r>
          </a:p>
        </p:txBody>
      </p:sp>
    </p:spTree>
    <p:extLst>
      <p:ext uri="{BB962C8B-B14F-4D97-AF65-F5344CB8AC3E}">
        <p14:creationId xmlns:p14="http://schemas.microsoft.com/office/powerpoint/2010/main" val="2252117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2: </a:t>
            </a:r>
            <a:r>
              <a:rPr lang="vi-VN" sz="3600" b="1" dirty="0">
                <a:latin typeface="Times New Roman" panose="02020603050405020304" pitchFamily="18" charset="0"/>
                <a:cs typeface="Times New Roman" panose="02020603050405020304" pitchFamily="18" charset="0"/>
              </a:rPr>
              <a:t>ƯỚC LƯỢNG CỠ MẪU </a:t>
            </a:r>
            <a:endParaRPr lang="en-GB" sz="3600" b="1" dirty="0">
              <a:latin typeface="Times New Roman" panose="02020603050405020304" pitchFamily="18" charset="0"/>
              <a:cs typeface="Times New Roman" panose="02020603050405020304" pitchFamily="18" charset="0"/>
            </a:endParaRPr>
          </a:p>
          <a:p>
            <a:pPr marL="0" indent="0" algn="ctr">
              <a:lnSpc>
                <a:spcPct val="150000"/>
              </a:lnSpc>
              <a:buNone/>
            </a:pPr>
            <a:r>
              <a:rPr lang="vi-VN" sz="3600" b="1" dirty="0">
                <a:latin typeface="Times New Roman" panose="02020603050405020304" pitchFamily="18" charset="0"/>
                <a:cs typeface="Times New Roman" panose="02020603050405020304" pitchFamily="18" charset="0"/>
              </a:rPr>
              <a:t>(SAMPLE SIZE ESTIMATION)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994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Tôi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cần</a:t>
            </a:r>
            <a:r>
              <a:rPr lang="en-US" sz="3600" b="1" dirty="0">
                <a:latin typeface="Times New Roman" panose="02020603050405020304" pitchFamily="18" charset="0"/>
                <a:cs typeface="Times New Roman" panose="02020603050405020304" pitchFamily="18" charset="0"/>
              </a:rPr>
              <a:t> bao </a:t>
            </a:r>
            <a:r>
              <a:rPr lang="en-US" sz="3600" b="1" dirty="0" err="1">
                <a:latin typeface="Times New Roman" panose="02020603050405020304" pitchFamily="18" charset="0"/>
                <a:cs typeface="Times New Roman" panose="02020603050405020304" pitchFamily="18" charset="0"/>
              </a:rPr>
              <a:t>nhiêu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bệnh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để</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quả</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có</a:t>
            </a:r>
            <a:r>
              <a:rPr lang="en-US" sz="3600" b="1" dirty="0">
                <a:latin typeface="Times New Roman" panose="02020603050405020304" pitchFamily="18" charset="0"/>
                <a:cs typeface="Times New Roman" panose="02020603050405020304" pitchFamily="18" charset="0"/>
              </a:rPr>
              <a:t> ý </a:t>
            </a:r>
            <a:r>
              <a:rPr lang="en-US" sz="3600" b="1" dirty="0" err="1">
                <a:latin typeface="Times New Roman" panose="02020603050405020304" pitchFamily="18" charset="0"/>
                <a:cs typeface="Times New Roman" panose="02020603050405020304" pitchFamily="18" charset="0"/>
              </a:rPr>
              <a:t>nghĩa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thống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kê</a:t>
            </a:r>
            <a:r>
              <a:rPr lang="en-US" sz="3600" b="1" dirty="0">
                <a:latin typeface="Times New Roman" panose="02020603050405020304" pitchFamily="18" charset="0"/>
                <a:cs typeface="Times New Roman" panose="02020603050405020304" pitchFamily="18" charset="0"/>
              </a:rPr>
              <a:t>?</a:t>
            </a:r>
          </a:p>
        </p:txBody>
      </p:sp>
      <p:pic>
        <p:nvPicPr>
          <p:cNvPr id="7" name="Content Placeholder 6">
            <a:extLst>
              <a:ext uri="{FF2B5EF4-FFF2-40B4-BE49-F238E27FC236}">
                <a16:creationId xmlns:a16="http://schemas.microsoft.com/office/drawing/2014/main" id="{66DCD05D-A948-733A-C100-4332EC2A1E7A}"/>
              </a:ext>
            </a:extLst>
          </p:cNvPr>
          <p:cNvPicPr>
            <a:picLocks noGrp="1" noChangeAspect="1"/>
          </p:cNvPicPr>
          <p:nvPr>
            <p:ph idx="1"/>
          </p:nvPr>
        </p:nvPicPr>
        <p:blipFill>
          <a:blip r:embed="rId2"/>
          <a:stretch>
            <a:fillRect/>
          </a:stretch>
        </p:blipFill>
        <p:spPr>
          <a:xfrm>
            <a:off x="838200" y="2078690"/>
            <a:ext cx="10515600" cy="3630061"/>
          </a:xfrm>
        </p:spPr>
      </p:pic>
    </p:spTree>
    <p:extLst>
      <p:ext uri="{BB962C8B-B14F-4D97-AF65-F5344CB8AC3E}">
        <p14:creationId xmlns:p14="http://schemas.microsoft.com/office/powerpoint/2010/main" val="2531916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132048"/>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tính một tỷ lệ</a:t>
            </a:r>
            <a:endParaRPr lang="en-US" sz="36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7661542-6CF2-B394-89D7-79BA9C798CD8}"/>
              </a:ext>
            </a:extLst>
          </p:cNvPr>
          <p:cNvPicPr>
            <a:picLocks noChangeAspect="1"/>
          </p:cNvPicPr>
          <p:nvPr/>
        </p:nvPicPr>
        <p:blipFill>
          <a:blip r:embed="rId2"/>
          <a:stretch>
            <a:fillRect/>
          </a:stretch>
        </p:blipFill>
        <p:spPr>
          <a:xfrm>
            <a:off x="3931409" y="1449760"/>
            <a:ext cx="3839111" cy="1352739"/>
          </a:xfrm>
          <a:prstGeom prst="rect">
            <a:avLst/>
          </a:prstGeom>
        </p:spPr>
      </p:pic>
      <p:sp>
        <p:nvSpPr>
          <p:cNvPr id="11" name="TextBox 10">
            <a:extLst>
              <a:ext uri="{FF2B5EF4-FFF2-40B4-BE49-F238E27FC236}">
                <a16:creationId xmlns:a16="http://schemas.microsoft.com/office/drawing/2014/main" id="{7F26037E-F39B-9A4D-A9FB-AAFE752B813E}"/>
              </a:ext>
            </a:extLst>
          </p:cNvPr>
          <p:cNvSpPr txBox="1"/>
          <p:nvPr/>
        </p:nvSpPr>
        <p:spPr>
          <a:xfrm>
            <a:off x="8211672" y="1995856"/>
            <a:ext cx="3233271" cy="369332"/>
          </a:xfrm>
          <a:prstGeom prst="rect">
            <a:avLst/>
          </a:prstGeom>
          <a:noFill/>
        </p:spPr>
        <p:txBody>
          <a:bodyPr wrap="square">
            <a:spAutoFit/>
          </a:bodyPr>
          <a:lstStyle/>
          <a:p>
            <a:r>
              <a:rPr lang="fr-FR" dirty="0" err="1"/>
              <a:t>Trong</a:t>
            </a:r>
            <a:r>
              <a:rPr lang="fr-FR" dirty="0"/>
              <a:t> </a:t>
            </a:r>
            <a:r>
              <a:rPr lang="fr-FR" dirty="0" err="1"/>
              <a:t>đó</a:t>
            </a:r>
            <a:r>
              <a:rPr lang="fr-FR" dirty="0"/>
              <a:t>: </a:t>
            </a:r>
            <a:r>
              <a:rPr lang="fr-FR" i="1" dirty="0"/>
              <a:t>d</a:t>
            </a:r>
            <a:r>
              <a:rPr lang="fr-FR" dirty="0"/>
              <a:t> là </a:t>
            </a:r>
            <a:r>
              <a:rPr lang="fr-FR" dirty="0" err="1"/>
              <a:t>sai</a:t>
            </a:r>
            <a:r>
              <a:rPr lang="fr-FR" dirty="0"/>
              <a:t> </a:t>
            </a:r>
            <a:r>
              <a:rPr lang="fr-FR" dirty="0" err="1"/>
              <a:t>số</a:t>
            </a:r>
            <a:r>
              <a:rPr lang="fr-FR" dirty="0"/>
              <a:t> </a:t>
            </a:r>
            <a:r>
              <a:rPr lang="fr-FR" dirty="0" err="1"/>
              <a:t>cho</a:t>
            </a:r>
            <a:r>
              <a:rPr lang="fr-FR" dirty="0"/>
              <a:t> </a:t>
            </a:r>
            <a:r>
              <a:rPr lang="fr-FR" dirty="0" err="1"/>
              <a:t>phép</a:t>
            </a:r>
            <a:r>
              <a:rPr lang="fr-FR" dirty="0"/>
              <a:t>.</a:t>
            </a:r>
            <a:endParaRPr lang="en-US" dirty="0"/>
          </a:p>
        </p:txBody>
      </p:sp>
      <p:sp>
        <p:nvSpPr>
          <p:cNvPr id="13" name="TextBox 12">
            <a:extLst>
              <a:ext uri="{FF2B5EF4-FFF2-40B4-BE49-F238E27FC236}">
                <a16:creationId xmlns:a16="http://schemas.microsoft.com/office/drawing/2014/main" id="{A109D069-E0E9-3DA2-DC86-505E949F4282}"/>
              </a:ext>
            </a:extLst>
          </p:cNvPr>
          <p:cNvSpPr txBox="1"/>
          <p:nvPr/>
        </p:nvSpPr>
        <p:spPr>
          <a:xfrm>
            <a:off x="838200" y="1146171"/>
            <a:ext cx="6096000" cy="369332"/>
          </a:xfrm>
          <a:prstGeom prst="rect">
            <a:avLst/>
          </a:prstGeom>
          <a:noFill/>
        </p:spPr>
        <p:txBody>
          <a:bodyPr wrap="square">
            <a:spAutoFit/>
          </a:bodyPr>
          <a:lstStyle/>
          <a:p>
            <a:r>
              <a:rPr lang="vi-VN" dirty="0"/>
              <a:t>Ví dụ: Tỷ lệ lưu hành bệnh</a:t>
            </a:r>
            <a:endParaRPr lang="en-US" dirty="0"/>
          </a:p>
        </p:txBody>
      </p:sp>
      <p:sp>
        <p:nvSpPr>
          <p:cNvPr id="15" name="TextBox 14">
            <a:extLst>
              <a:ext uri="{FF2B5EF4-FFF2-40B4-BE49-F238E27FC236}">
                <a16:creationId xmlns:a16="http://schemas.microsoft.com/office/drawing/2014/main" id="{B027171F-F874-B46C-621A-9F77BED3BA5B}"/>
              </a:ext>
            </a:extLst>
          </p:cNvPr>
          <p:cNvSpPr txBox="1"/>
          <p:nvPr/>
        </p:nvSpPr>
        <p:spPr>
          <a:xfrm>
            <a:off x="838200" y="3429000"/>
            <a:ext cx="6096000" cy="2308324"/>
          </a:xfrm>
          <a:prstGeom prst="rect">
            <a:avLst/>
          </a:prstGeom>
          <a:noFill/>
        </p:spPr>
        <p:txBody>
          <a:bodyPr wrap="square">
            <a:spAutoFit/>
          </a:bodyPr>
          <a:lstStyle/>
          <a:p>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thức</a:t>
            </a:r>
            <a:r>
              <a:rPr lang="en-US" dirty="0"/>
              <a:t> </a:t>
            </a:r>
            <a:r>
              <a:rPr lang="en-US" dirty="0" err="1"/>
              <a:t>thủ</a:t>
            </a:r>
            <a:r>
              <a:rPr lang="en-US" dirty="0"/>
              <a:t> </a:t>
            </a:r>
            <a:r>
              <a:rPr lang="en-US" dirty="0" err="1"/>
              <a:t>công</a:t>
            </a:r>
            <a:endParaRPr lang="en-US" dirty="0"/>
          </a:p>
          <a:p>
            <a:r>
              <a:rPr lang="en-US" dirty="0"/>
              <a:t>alpha &lt;- 0.05</a:t>
            </a:r>
          </a:p>
          <a:p>
            <a:r>
              <a:rPr lang="en-US" dirty="0" err="1"/>
              <a:t>z_alpha</a:t>
            </a:r>
            <a:r>
              <a:rPr lang="en-US" dirty="0"/>
              <a:t> &lt;- </a:t>
            </a:r>
            <a:r>
              <a:rPr lang="en-US" dirty="0" err="1"/>
              <a:t>qnorm</a:t>
            </a:r>
            <a:r>
              <a:rPr lang="en-US" dirty="0"/>
              <a:t>(1 - alpha/2)</a:t>
            </a:r>
          </a:p>
          <a:p>
            <a:r>
              <a:rPr lang="en-US" dirty="0"/>
              <a:t>p &lt;- 0.2  # </a:t>
            </a:r>
            <a:r>
              <a:rPr lang="en-US" dirty="0" err="1"/>
              <a:t>Tỷ</a:t>
            </a:r>
            <a:r>
              <a:rPr lang="en-US" dirty="0"/>
              <a:t> </a:t>
            </a:r>
            <a:r>
              <a:rPr lang="en-US" dirty="0" err="1"/>
              <a:t>lệ</a:t>
            </a:r>
            <a:r>
              <a:rPr lang="en-US" dirty="0"/>
              <a:t> </a:t>
            </a:r>
            <a:r>
              <a:rPr lang="en-US" dirty="0" err="1"/>
              <a:t>dự</a:t>
            </a:r>
            <a:r>
              <a:rPr lang="en-US" dirty="0"/>
              <a:t> </a:t>
            </a:r>
            <a:r>
              <a:rPr lang="en-US" dirty="0" err="1"/>
              <a:t>đoán</a:t>
            </a:r>
            <a:r>
              <a:rPr lang="en-US" dirty="0"/>
              <a:t> (</a:t>
            </a:r>
            <a:r>
              <a:rPr lang="en-US" dirty="0" err="1"/>
              <a:t>ví</a:t>
            </a:r>
            <a:r>
              <a:rPr lang="en-US" dirty="0"/>
              <a:t> </a:t>
            </a:r>
            <a:r>
              <a:rPr lang="en-US" dirty="0" err="1"/>
              <a:t>dụ</a:t>
            </a:r>
            <a:r>
              <a:rPr lang="en-US" dirty="0"/>
              <a:t> 20%)</a:t>
            </a:r>
          </a:p>
          <a:p>
            <a:r>
              <a:rPr lang="en-US" dirty="0"/>
              <a:t>d &lt;- 0.05 # Sai </a:t>
            </a:r>
            <a:r>
              <a:rPr lang="en-US" dirty="0" err="1"/>
              <a:t>số</a:t>
            </a:r>
            <a:r>
              <a:rPr lang="en-US" dirty="0"/>
              <a:t> </a:t>
            </a:r>
            <a:r>
              <a:rPr lang="en-US" dirty="0" err="1"/>
              <a:t>cho</a:t>
            </a:r>
            <a:r>
              <a:rPr lang="en-US" dirty="0"/>
              <a:t> </a:t>
            </a:r>
            <a:r>
              <a:rPr lang="en-US" dirty="0" err="1"/>
              <a:t>phép</a:t>
            </a:r>
            <a:r>
              <a:rPr lang="en-US" dirty="0"/>
              <a:t> (5%)</a:t>
            </a:r>
          </a:p>
          <a:p>
            <a:endParaRPr lang="en-US" dirty="0"/>
          </a:p>
          <a:p>
            <a:r>
              <a:rPr lang="en-US" dirty="0"/>
              <a:t>n &lt;- (z_alpha^2 * p * (1 - p)) / d^2</a:t>
            </a:r>
          </a:p>
          <a:p>
            <a:r>
              <a:rPr lang="en-US" dirty="0"/>
              <a:t>cat("</a:t>
            </a:r>
            <a:r>
              <a:rPr lang="en-US" dirty="0" err="1"/>
              <a:t>Cỡ</a:t>
            </a:r>
            <a:r>
              <a:rPr lang="en-US" dirty="0"/>
              <a:t> </a:t>
            </a:r>
            <a:r>
              <a:rPr lang="en-US" dirty="0" err="1"/>
              <a:t>mẫu</a:t>
            </a:r>
            <a:r>
              <a:rPr lang="en-US" dirty="0"/>
              <a:t> </a:t>
            </a:r>
            <a:r>
              <a:rPr lang="en-US" dirty="0" err="1"/>
              <a:t>cần</a:t>
            </a:r>
            <a:r>
              <a:rPr lang="en-US" dirty="0"/>
              <a:t> </a:t>
            </a:r>
            <a:r>
              <a:rPr lang="en-US" dirty="0" err="1"/>
              <a:t>thiết</a:t>
            </a:r>
            <a:r>
              <a:rPr lang="en-US" dirty="0"/>
              <a:t> </a:t>
            </a:r>
            <a:r>
              <a:rPr lang="en-US" dirty="0" err="1"/>
              <a:t>là</a:t>
            </a:r>
            <a:r>
              <a:rPr lang="en-US" dirty="0"/>
              <a:t>:", ceiling(n))</a:t>
            </a:r>
          </a:p>
        </p:txBody>
      </p:sp>
    </p:spTree>
    <p:extLst>
      <p:ext uri="{BB962C8B-B14F-4D97-AF65-F5344CB8AC3E}">
        <p14:creationId xmlns:p14="http://schemas.microsoft.com/office/powerpoint/2010/main" val="260534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132048"/>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tính</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cỡ</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mẫu</a:t>
            </a:r>
            <a:r>
              <a:rPr lang="en-GB" sz="3600" b="1" dirty="0">
                <a:latin typeface="Times New Roman" panose="02020603050405020304" pitchFamily="18" charset="0"/>
                <a:cs typeface="Times New Roman" panose="02020603050405020304" pitchFamily="18" charset="0"/>
              </a:rPr>
              <a:t> so </a:t>
            </a:r>
            <a:r>
              <a:rPr lang="en-GB" sz="3600" b="1" dirty="0" err="1">
                <a:latin typeface="Times New Roman" panose="02020603050405020304" pitchFamily="18" charset="0"/>
                <a:cs typeface="Times New Roman" panose="02020603050405020304" pitchFamily="18" charset="0"/>
              </a:rPr>
              <a:t>sánh</a:t>
            </a:r>
            <a:r>
              <a:rPr lang="en-GB" sz="3600" b="1" dirty="0">
                <a:latin typeface="Times New Roman" panose="02020603050405020304" pitchFamily="18" charset="0"/>
                <a:cs typeface="Times New Roman" panose="02020603050405020304" pitchFamily="18" charset="0"/>
              </a:rPr>
              <a:t> 2</a:t>
            </a:r>
            <a:r>
              <a:rPr lang="vi-VN" sz="3600" b="1" dirty="0">
                <a:latin typeface="Times New Roman" panose="02020603050405020304" pitchFamily="18" charset="0"/>
                <a:cs typeface="Times New Roman" panose="02020603050405020304" pitchFamily="18" charset="0"/>
              </a:rPr>
              <a:t> tỷ lệ</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555812" y="1146171"/>
            <a:ext cx="6048188" cy="5016758"/>
          </a:xfrm>
          <a:prstGeom prst="rect">
            <a:avLst/>
          </a:prstGeom>
          <a:noFill/>
        </p:spPr>
        <p:txBody>
          <a:bodyPr wrap="square">
            <a:spAutoFit/>
          </a:bodyPr>
          <a:lstStyle/>
          <a:p>
            <a:pPr marL="342900" indent="-342900" algn="just">
              <a:buFont typeface="Arial" panose="020B0604020202020204" pitchFamily="34" charset="0"/>
              <a:buChar char="•"/>
            </a:pPr>
            <a:r>
              <a:rPr lang="vi-VN" sz="2200" dirty="0">
                <a:latin typeface="+mj-lt"/>
              </a:rPr>
              <a:t>Tình huống: Bạn thực hiện một nghiên cứu so sánh tỷ lệ đáp ứng điều trị (cure rate) của một loại kháng sinh mới so với kháng sinh tiêu chuẩn trong điều trị viêm phổi cộng đồng.</a:t>
            </a:r>
            <a:endParaRPr lang="en-GB" sz="2200" dirty="0">
              <a:latin typeface="+mj-lt"/>
            </a:endParaRPr>
          </a:p>
          <a:p>
            <a:pPr marL="342900" indent="-342900" algn="just">
              <a:buFont typeface="Arial" panose="020B0604020202020204" pitchFamily="34" charset="0"/>
              <a:buChar char="•"/>
            </a:pPr>
            <a:r>
              <a:rPr lang="vi-VN" sz="2200" dirty="0">
                <a:latin typeface="+mj-lt"/>
              </a:rPr>
              <a:t>Dữ liệu giả định: Tỷ lệ thành công của phác đồ tiêu chuẩn là 70% (p_1 = 0.7). </a:t>
            </a:r>
            <a:endParaRPr lang="en-GB" sz="2200" dirty="0">
              <a:latin typeface="+mj-lt"/>
            </a:endParaRPr>
          </a:p>
          <a:p>
            <a:pPr marL="342900" indent="-342900" algn="just">
              <a:buFont typeface="Arial" panose="020B0604020202020204" pitchFamily="34" charset="0"/>
              <a:buChar char="•"/>
            </a:pPr>
            <a:r>
              <a:rPr lang="vi-VN" sz="2200" dirty="0">
                <a:latin typeface="+mj-lt"/>
              </a:rPr>
              <a:t>Bạn kỳ vọng phác đồ mới sẽ đạt tỷ lệ thành công 85% (p_2 = 0.85).</a:t>
            </a:r>
            <a:endParaRPr lang="en-GB" sz="2200" dirty="0">
              <a:latin typeface="+mj-lt"/>
            </a:endParaRPr>
          </a:p>
          <a:p>
            <a:pPr marL="342900" indent="-342900" algn="just">
              <a:buFont typeface="Arial" panose="020B0604020202020204" pitchFamily="34" charset="0"/>
              <a:buChar char="•"/>
            </a:pPr>
            <a:r>
              <a:rPr lang="vi-VN" sz="2200" dirty="0">
                <a:latin typeface="+mj-lt"/>
              </a:rPr>
              <a:t>Thông số: alpha = 0.05, Power = 0.8</a:t>
            </a:r>
            <a:endParaRPr lang="en-GB" sz="2200" dirty="0">
              <a:latin typeface="+mj-lt"/>
            </a:endParaRPr>
          </a:p>
          <a:p>
            <a:pPr algn="just"/>
            <a:endParaRPr lang="en-GB" sz="2200" dirty="0">
              <a:latin typeface="+mj-lt"/>
            </a:endParaRPr>
          </a:p>
          <a:p>
            <a:pPr algn="just"/>
            <a:r>
              <a:rPr lang="vi-VN" sz="2000" dirty="0">
                <a:latin typeface="+mj-lt"/>
              </a:rPr>
              <a:t>T. M., et al. (1997). A multicenter, randomized study comparing the efficacy and safety of combined gemifloxacin and clarithromycin with clarithromycin alone in the treatment of community-acquired pneumonia. Antimicrobial Agents and Chemotherapy.</a:t>
            </a:r>
            <a:endParaRPr lang="en-US" sz="2000" dirty="0">
              <a:latin typeface="+mj-lt"/>
            </a:endParaRPr>
          </a:p>
        </p:txBody>
      </p:sp>
      <p:sp>
        <p:nvSpPr>
          <p:cNvPr id="15" name="TextBox 14">
            <a:extLst>
              <a:ext uri="{FF2B5EF4-FFF2-40B4-BE49-F238E27FC236}">
                <a16:creationId xmlns:a16="http://schemas.microsoft.com/office/drawing/2014/main" id="{B027171F-F874-B46C-621A-9F77BED3BA5B}"/>
              </a:ext>
            </a:extLst>
          </p:cNvPr>
          <p:cNvSpPr txBox="1"/>
          <p:nvPr/>
        </p:nvSpPr>
        <p:spPr>
          <a:xfrm>
            <a:off x="7046259" y="1217288"/>
            <a:ext cx="4823012" cy="4801314"/>
          </a:xfrm>
          <a:prstGeom prst="rect">
            <a:avLst/>
          </a:prstGeom>
          <a:noFill/>
        </p:spPr>
        <p:txBody>
          <a:bodyPr wrap="square">
            <a:spAutoFit/>
          </a:bodyPr>
          <a:lstStyle/>
          <a:p>
            <a:r>
              <a:rPr lang="en-US" dirty="0"/>
              <a:t>if(!require(</a:t>
            </a:r>
            <a:r>
              <a:rPr lang="en-US" dirty="0" err="1"/>
              <a:t>pwr</a:t>
            </a:r>
            <a:r>
              <a:rPr lang="en-US" dirty="0"/>
              <a:t>)) </a:t>
            </a:r>
            <a:r>
              <a:rPr lang="en-US" dirty="0" err="1"/>
              <a:t>install.packages</a:t>
            </a:r>
            <a:r>
              <a:rPr lang="en-US" dirty="0"/>
              <a:t>("</a:t>
            </a:r>
            <a:r>
              <a:rPr lang="en-US" dirty="0" err="1"/>
              <a:t>pwr</a:t>
            </a:r>
            <a:r>
              <a:rPr lang="en-US" dirty="0"/>
              <a:t>")</a:t>
            </a:r>
          </a:p>
          <a:p>
            <a:r>
              <a:rPr lang="en-US" dirty="0"/>
              <a:t>library(</a:t>
            </a:r>
            <a:r>
              <a:rPr lang="en-US" dirty="0" err="1"/>
              <a:t>pwr</a:t>
            </a:r>
            <a:r>
              <a:rPr lang="en-US" dirty="0"/>
              <a:t>)</a:t>
            </a:r>
          </a:p>
          <a:p>
            <a:endParaRPr lang="en-US" dirty="0"/>
          </a:p>
          <a:p>
            <a:r>
              <a:rPr lang="en-US" dirty="0"/>
              <a:t># </a:t>
            </a:r>
            <a:r>
              <a:rPr lang="en-US" dirty="0" err="1"/>
              <a:t>Tính</a:t>
            </a:r>
            <a:r>
              <a:rPr lang="en-US" dirty="0"/>
              <a:t> </a:t>
            </a:r>
            <a:r>
              <a:rPr lang="en-US" dirty="0" err="1"/>
              <a:t>độ</a:t>
            </a:r>
            <a:r>
              <a:rPr lang="en-US" dirty="0"/>
              <a:t> </a:t>
            </a:r>
            <a:r>
              <a:rPr lang="en-US" dirty="0" err="1"/>
              <a:t>lớn</a:t>
            </a:r>
            <a:r>
              <a:rPr lang="en-US" dirty="0"/>
              <a:t> </a:t>
            </a:r>
            <a:r>
              <a:rPr lang="en-US" dirty="0" err="1"/>
              <a:t>hiệu</a:t>
            </a:r>
            <a:r>
              <a:rPr lang="en-US" dirty="0"/>
              <a:t> </a:t>
            </a:r>
            <a:r>
              <a:rPr lang="en-US" dirty="0" err="1"/>
              <a:t>ứng</a:t>
            </a:r>
            <a:r>
              <a:rPr lang="en-US" dirty="0"/>
              <a:t> (h) </a:t>
            </a:r>
            <a:r>
              <a:rPr lang="en-US" dirty="0" err="1"/>
              <a:t>từ</a:t>
            </a:r>
            <a:r>
              <a:rPr lang="en-US" dirty="0"/>
              <a:t> </a:t>
            </a:r>
            <a:r>
              <a:rPr lang="en-US" dirty="0" err="1"/>
              <a:t>hai</a:t>
            </a:r>
            <a:r>
              <a:rPr lang="en-US" dirty="0"/>
              <a:t> </a:t>
            </a:r>
            <a:r>
              <a:rPr lang="en-US" dirty="0" err="1"/>
              <a:t>tỷ</a:t>
            </a:r>
            <a:r>
              <a:rPr lang="en-US" dirty="0"/>
              <a:t> </a:t>
            </a:r>
            <a:r>
              <a:rPr lang="en-US" dirty="0" err="1"/>
              <a:t>lệ</a:t>
            </a:r>
            <a:endParaRPr lang="en-US" dirty="0"/>
          </a:p>
          <a:p>
            <a:r>
              <a:rPr lang="en-US" dirty="0"/>
              <a:t>p1 &lt;- 0.70</a:t>
            </a:r>
          </a:p>
          <a:p>
            <a:r>
              <a:rPr lang="en-US" dirty="0"/>
              <a:t>p2 &lt;- 0.85</a:t>
            </a:r>
          </a:p>
          <a:p>
            <a:r>
              <a:rPr lang="en-US" dirty="0" err="1"/>
              <a:t>h_effect</a:t>
            </a:r>
            <a:r>
              <a:rPr lang="en-US" dirty="0"/>
              <a:t> &lt;- </a:t>
            </a:r>
            <a:r>
              <a:rPr lang="en-US" dirty="0" err="1"/>
              <a:t>ES.h</a:t>
            </a:r>
            <a:r>
              <a:rPr lang="en-US" dirty="0"/>
              <a:t>(p1, p2)</a:t>
            </a:r>
          </a:p>
          <a:p>
            <a:endParaRPr lang="en-US" dirty="0"/>
          </a:p>
          <a:p>
            <a:r>
              <a:rPr lang="en-US" dirty="0"/>
              <a:t># </a:t>
            </a:r>
            <a:r>
              <a:rPr lang="en-US" dirty="0" err="1"/>
              <a:t>Tính</a:t>
            </a:r>
            <a:r>
              <a:rPr lang="en-US" dirty="0"/>
              <a:t> </a:t>
            </a:r>
            <a:r>
              <a:rPr lang="en-US" dirty="0" err="1"/>
              <a:t>cỡ</a:t>
            </a:r>
            <a:r>
              <a:rPr lang="en-US" dirty="0"/>
              <a:t> </a:t>
            </a:r>
            <a:r>
              <a:rPr lang="en-US" dirty="0" err="1"/>
              <a:t>mẫu</a:t>
            </a:r>
            <a:endParaRPr lang="en-US" dirty="0"/>
          </a:p>
          <a:p>
            <a:r>
              <a:rPr lang="en-US" dirty="0" err="1"/>
              <a:t>sample_size_prop</a:t>
            </a:r>
            <a:r>
              <a:rPr lang="en-US" dirty="0"/>
              <a:t> &lt;- pwr.2p.test(h = </a:t>
            </a:r>
            <a:r>
              <a:rPr lang="en-US" dirty="0" err="1"/>
              <a:t>h_effect</a:t>
            </a:r>
            <a:r>
              <a:rPr lang="en-US" dirty="0"/>
              <a:t>, </a:t>
            </a:r>
          </a:p>
          <a:p>
            <a:r>
              <a:rPr lang="en-US" dirty="0"/>
              <a:t>                                </a:t>
            </a:r>
            <a:r>
              <a:rPr lang="en-US" dirty="0" err="1"/>
              <a:t>sig.level</a:t>
            </a:r>
            <a:r>
              <a:rPr lang="en-US" dirty="0"/>
              <a:t> = 0.05, </a:t>
            </a:r>
          </a:p>
          <a:p>
            <a:r>
              <a:rPr lang="en-US" dirty="0"/>
              <a:t>                                power = 0.80, </a:t>
            </a:r>
          </a:p>
          <a:p>
            <a:r>
              <a:rPr lang="en-US" dirty="0"/>
              <a:t>                                alternative = "</a:t>
            </a:r>
            <a:r>
              <a:rPr lang="en-US" dirty="0" err="1"/>
              <a:t>two.sided</a:t>
            </a:r>
            <a:r>
              <a:rPr lang="en-US" dirty="0"/>
              <a:t>")</a:t>
            </a:r>
          </a:p>
          <a:p>
            <a:endParaRPr lang="en-US" dirty="0"/>
          </a:p>
          <a:p>
            <a:r>
              <a:rPr lang="en-US" dirty="0"/>
              <a:t>print(</a:t>
            </a:r>
            <a:r>
              <a:rPr lang="en-US" dirty="0" err="1"/>
              <a:t>sample_size_prop</a:t>
            </a:r>
            <a:r>
              <a:rPr lang="en-US" dirty="0"/>
              <a:t>)</a:t>
            </a:r>
          </a:p>
          <a:p>
            <a:r>
              <a:rPr lang="en-US" dirty="0"/>
              <a:t># </a:t>
            </a:r>
            <a:r>
              <a:rPr lang="en-US" dirty="0" err="1"/>
              <a:t>Kết</a:t>
            </a:r>
            <a:r>
              <a:rPr lang="en-US" dirty="0"/>
              <a:t> </a:t>
            </a:r>
            <a:r>
              <a:rPr lang="en-US" dirty="0" err="1"/>
              <a:t>quả</a:t>
            </a:r>
            <a:r>
              <a:rPr lang="en-US" dirty="0"/>
              <a:t>: n ≈ 128 (</a:t>
            </a:r>
            <a:r>
              <a:rPr lang="en-US" dirty="0" err="1"/>
              <a:t>Mỗi</a:t>
            </a:r>
            <a:r>
              <a:rPr lang="en-US" dirty="0"/>
              <a:t> </a:t>
            </a:r>
            <a:r>
              <a:rPr lang="en-US" dirty="0" err="1"/>
              <a:t>nhóm</a:t>
            </a:r>
            <a:r>
              <a:rPr lang="en-US" dirty="0"/>
              <a:t> </a:t>
            </a:r>
            <a:r>
              <a:rPr lang="en-US" dirty="0" err="1"/>
              <a:t>cần</a:t>
            </a:r>
            <a:r>
              <a:rPr lang="en-US" dirty="0"/>
              <a:t> 129 </a:t>
            </a:r>
            <a:r>
              <a:rPr lang="en-US" dirty="0" err="1"/>
              <a:t>bệnh</a:t>
            </a:r>
            <a:r>
              <a:rPr lang="en-US" dirty="0"/>
              <a:t> </a:t>
            </a:r>
            <a:r>
              <a:rPr lang="en-US" dirty="0" err="1"/>
              <a:t>nhân</a:t>
            </a:r>
            <a:r>
              <a:rPr lang="en-US" dirty="0"/>
              <a:t>, </a:t>
            </a:r>
            <a:r>
              <a:rPr lang="en-US" dirty="0" err="1"/>
              <a:t>tổng</a:t>
            </a:r>
            <a:r>
              <a:rPr lang="en-US" dirty="0"/>
              <a:t> 258)</a:t>
            </a:r>
          </a:p>
        </p:txBody>
      </p:sp>
    </p:spTree>
    <p:extLst>
      <p:ext uri="{BB962C8B-B14F-4D97-AF65-F5344CB8AC3E}">
        <p14:creationId xmlns:p14="http://schemas.microsoft.com/office/powerpoint/2010/main" val="1959107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Ước </a:t>
            </a:r>
            <a:r>
              <a:rPr lang="en-GB" sz="3600" b="1" dirty="0" err="1">
                <a:cs typeface="Times New Roman" panose="02020603050405020304" pitchFamily="18" charset="0"/>
              </a:rPr>
              <a:t>tính</a:t>
            </a:r>
            <a:r>
              <a:rPr lang="en-GB" sz="3600" b="1" dirty="0">
                <a:cs typeface="Times New Roman" panose="02020603050405020304" pitchFamily="18" charset="0"/>
              </a:rPr>
              <a:t> </a:t>
            </a:r>
            <a:r>
              <a:rPr lang="en-GB" sz="3600" b="1" dirty="0" err="1">
                <a:cs typeface="Times New Roman" panose="02020603050405020304" pitchFamily="18" charset="0"/>
              </a:rPr>
              <a:t>cỡ</a:t>
            </a:r>
            <a:r>
              <a:rPr lang="en-GB" sz="3600" b="1" dirty="0">
                <a:cs typeface="Times New Roman" panose="02020603050405020304" pitchFamily="18" charset="0"/>
              </a:rPr>
              <a:t> </a:t>
            </a:r>
            <a:r>
              <a:rPr lang="en-GB" sz="3600" b="1" dirty="0" err="1">
                <a:cs typeface="Times New Roman" panose="02020603050405020304" pitchFamily="18" charset="0"/>
              </a:rPr>
              <a:t>mẫu</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cs typeface="Times New Roman" panose="02020603050405020304" pitchFamily="18" charset="0"/>
              </a:rPr>
              <a:t> </a:t>
            </a:r>
            <a:r>
              <a:rPr lang="de-DE" sz="3600" b="1" dirty="0">
                <a:cs typeface="Times New Roman" panose="02020603050405020304" pitchFamily="18" charset="0"/>
              </a:rPr>
              <a:t>so sánh hai trung bình</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419851" y="1553222"/>
            <a:ext cx="6668247" cy="461665"/>
          </a:xfrm>
          <a:prstGeom prst="rect">
            <a:avLst/>
          </a:prstGeom>
          <a:noFill/>
        </p:spPr>
        <p:txBody>
          <a:bodyPr wrap="square">
            <a:spAutoFit/>
          </a:bodyPr>
          <a:lstStyle/>
          <a:p>
            <a:r>
              <a:rPr lang="en-US" sz="2400" dirty="0" err="1"/>
              <a:t>Ví</a:t>
            </a:r>
            <a:r>
              <a:rPr lang="en-US" sz="2400" dirty="0"/>
              <a:t> </a:t>
            </a:r>
            <a:r>
              <a:rPr lang="en-US" sz="2400" dirty="0" err="1"/>
              <a:t>dụ</a:t>
            </a:r>
            <a:r>
              <a:rPr lang="en-US" sz="2400" dirty="0"/>
              <a:t>: So </a:t>
            </a:r>
            <a:r>
              <a:rPr lang="en-US" sz="2400" dirty="0" err="1"/>
              <a:t>sánh</a:t>
            </a:r>
            <a:r>
              <a:rPr lang="en-US" sz="2400" dirty="0"/>
              <a:t> </a:t>
            </a:r>
            <a:r>
              <a:rPr lang="en-US" sz="2400" dirty="0" err="1"/>
              <a:t>huyết</a:t>
            </a:r>
            <a:r>
              <a:rPr lang="en-US" sz="2400" dirty="0"/>
              <a:t> </a:t>
            </a:r>
            <a:r>
              <a:rPr lang="en-US" sz="2400" dirty="0" err="1"/>
              <a:t>áp</a:t>
            </a:r>
            <a:r>
              <a:rPr lang="en-US" sz="2400" dirty="0"/>
              <a:t> </a:t>
            </a:r>
            <a:r>
              <a:rPr lang="en-US" sz="2400" dirty="0" err="1"/>
              <a:t>giữa</a:t>
            </a:r>
            <a:r>
              <a:rPr lang="en-US" sz="2400" dirty="0"/>
              <a:t> 2 </a:t>
            </a:r>
            <a:r>
              <a:rPr lang="en-US" sz="2400" dirty="0" err="1"/>
              <a:t>nhóm</a:t>
            </a:r>
            <a:r>
              <a:rPr lang="en-US" sz="2400" dirty="0"/>
              <a:t> </a:t>
            </a:r>
            <a:r>
              <a:rPr lang="en-US" sz="2400" dirty="0" err="1"/>
              <a:t>thuốc</a:t>
            </a:r>
            <a:endParaRPr lang="en-US" sz="2400" dirty="0"/>
          </a:p>
        </p:txBody>
      </p:sp>
      <p:pic>
        <p:nvPicPr>
          <p:cNvPr id="4" name="Picture 3">
            <a:extLst>
              <a:ext uri="{FF2B5EF4-FFF2-40B4-BE49-F238E27FC236}">
                <a16:creationId xmlns:a16="http://schemas.microsoft.com/office/drawing/2014/main" id="{2A0DCF3C-52B3-345E-8364-01E970778A31}"/>
              </a:ext>
            </a:extLst>
          </p:cNvPr>
          <p:cNvPicPr>
            <a:picLocks noChangeAspect="1"/>
          </p:cNvPicPr>
          <p:nvPr/>
        </p:nvPicPr>
        <p:blipFill>
          <a:blip r:embed="rId2"/>
          <a:stretch>
            <a:fillRect/>
          </a:stretch>
        </p:blipFill>
        <p:spPr>
          <a:xfrm>
            <a:off x="717693" y="2217429"/>
            <a:ext cx="4696480" cy="1371791"/>
          </a:xfrm>
          <a:prstGeom prst="rect">
            <a:avLst/>
          </a:prstGeom>
        </p:spPr>
      </p:pic>
      <p:pic>
        <p:nvPicPr>
          <p:cNvPr id="7" name="Picture 6">
            <a:extLst>
              <a:ext uri="{FF2B5EF4-FFF2-40B4-BE49-F238E27FC236}">
                <a16:creationId xmlns:a16="http://schemas.microsoft.com/office/drawing/2014/main" id="{8B418473-E4FF-3DD8-1E37-DA9F58714447}"/>
              </a:ext>
            </a:extLst>
          </p:cNvPr>
          <p:cNvPicPr>
            <a:picLocks noChangeAspect="1"/>
          </p:cNvPicPr>
          <p:nvPr/>
        </p:nvPicPr>
        <p:blipFill>
          <a:blip r:embed="rId3"/>
          <a:stretch>
            <a:fillRect/>
          </a:stretch>
        </p:blipFill>
        <p:spPr>
          <a:xfrm>
            <a:off x="419851" y="3708250"/>
            <a:ext cx="5326387" cy="507581"/>
          </a:xfrm>
          <a:prstGeom prst="rect">
            <a:avLst/>
          </a:prstGeom>
        </p:spPr>
      </p:pic>
      <p:sp>
        <p:nvSpPr>
          <p:cNvPr id="10" name="TextBox 9">
            <a:extLst>
              <a:ext uri="{FF2B5EF4-FFF2-40B4-BE49-F238E27FC236}">
                <a16:creationId xmlns:a16="http://schemas.microsoft.com/office/drawing/2014/main" id="{4F26E1A2-6D0E-30A0-D587-0DEEB41BD440}"/>
              </a:ext>
            </a:extLst>
          </p:cNvPr>
          <p:cNvSpPr txBox="1"/>
          <p:nvPr/>
        </p:nvSpPr>
        <p:spPr>
          <a:xfrm>
            <a:off x="6413784" y="1612986"/>
            <a:ext cx="5419627" cy="4247317"/>
          </a:xfrm>
          <a:prstGeom prst="rect">
            <a:avLst/>
          </a:prstGeom>
          <a:noFill/>
        </p:spPr>
        <p:txBody>
          <a:bodyPr wrap="square">
            <a:spAutoFit/>
          </a:bodyPr>
          <a:lstStyle/>
          <a:p>
            <a:r>
              <a:rPr lang="en-US" dirty="0"/>
              <a:t># </a:t>
            </a:r>
            <a:r>
              <a:rPr lang="en-US" dirty="0" err="1"/>
              <a:t>Cách</a:t>
            </a:r>
            <a:r>
              <a:rPr lang="en-US" dirty="0"/>
              <a:t> 2: </a:t>
            </a:r>
            <a:r>
              <a:rPr lang="en-US" dirty="0" err="1"/>
              <a:t>Sử</a:t>
            </a:r>
            <a:r>
              <a:rPr lang="en-US" dirty="0"/>
              <a:t> </a:t>
            </a:r>
            <a:r>
              <a:rPr lang="en-US" dirty="0" err="1"/>
              <a:t>dụng</a:t>
            </a:r>
            <a:r>
              <a:rPr lang="en-US" dirty="0"/>
              <a:t> package '</a:t>
            </a:r>
            <a:r>
              <a:rPr lang="en-US" dirty="0" err="1"/>
              <a:t>pwr</a:t>
            </a:r>
            <a:r>
              <a:rPr lang="en-US" dirty="0"/>
              <a:t>'</a:t>
            </a:r>
          </a:p>
          <a:p>
            <a:r>
              <a:rPr lang="en-US" dirty="0"/>
              <a:t>if(!require(</a:t>
            </a:r>
            <a:r>
              <a:rPr lang="en-US" dirty="0" err="1"/>
              <a:t>pwr</a:t>
            </a:r>
            <a:r>
              <a:rPr lang="en-US" dirty="0"/>
              <a:t>)) </a:t>
            </a:r>
            <a:r>
              <a:rPr lang="en-US" dirty="0" err="1"/>
              <a:t>install.packages</a:t>
            </a:r>
            <a:r>
              <a:rPr lang="en-US" dirty="0"/>
              <a:t>("</a:t>
            </a:r>
            <a:r>
              <a:rPr lang="en-US" dirty="0" err="1"/>
              <a:t>pwr</a:t>
            </a:r>
            <a:r>
              <a:rPr lang="en-US" dirty="0"/>
              <a:t>")</a:t>
            </a:r>
          </a:p>
          <a:p>
            <a:r>
              <a:rPr lang="en-US" dirty="0"/>
              <a:t>library(</a:t>
            </a:r>
            <a:r>
              <a:rPr lang="en-US" dirty="0" err="1"/>
              <a:t>pwr</a:t>
            </a:r>
            <a:r>
              <a:rPr lang="en-US" dirty="0"/>
              <a:t>)</a:t>
            </a:r>
          </a:p>
          <a:p>
            <a:endParaRPr lang="en-US" dirty="0"/>
          </a:p>
          <a:p>
            <a:r>
              <a:rPr lang="en-US" dirty="0"/>
              <a:t># </a:t>
            </a:r>
            <a:r>
              <a:rPr lang="en-US" dirty="0" err="1"/>
              <a:t>Giả</a:t>
            </a:r>
            <a:r>
              <a:rPr lang="en-US" dirty="0"/>
              <a:t> </a:t>
            </a:r>
            <a:r>
              <a:rPr lang="en-US" dirty="0" err="1"/>
              <a:t>sử</a:t>
            </a:r>
            <a:r>
              <a:rPr lang="en-US" dirty="0"/>
              <a:t> Effect size (d) = 0.5 (</a:t>
            </a:r>
            <a:r>
              <a:rPr lang="en-US" dirty="0" err="1"/>
              <a:t>mức</a:t>
            </a:r>
            <a:r>
              <a:rPr lang="en-US" dirty="0"/>
              <a:t> </a:t>
            </a:r>
            <a:r>
              <a:rPr lang="en-US" dirty="0" err="1"/>
              <a:t>trung</a:t>
            </a:r>
            <a:r>
              <a:rPr lang="en-US" dirty="0"/>
              <a:t> </a:t>
            </a:r>
            <a:r>
              <a:rPr lang="en-US" dirty="0" err="1"/>
              <a:t>bình</a:t>
            </a:r>
            <a:r>
              <a:rPr lang="en-US" dirty="0"/>
              <a:t>)</a:t>
            </a:r>
          </a:p>
          <a:p>
            <a:r>
              <a:rPr lang="en-US" dirty="0"/>
              <a:t># d = (Mean1 - Mean2) / SD</a:t>
            </a:r>
          </a:p>
          <a:p>
            <a:r>
              <a:rPr lang="en-US" dirty="0"/>
              <a:t>res &lt;- </a:t>
            </a:r>
            <a:r>
              <a:rPr lang="en-US" dirty="0" err="1"/>
              <a:t>pwr.t.test</a:t>
            </a:r>
            <a:r>
              <a:rPr lang="en-US" dirty="0"/>
              <a:t>(d = 0.5, </a:t>
            </a:r>
          </a:p>
          <a:p>
            <a:r>
              <a:rPr lang="en-US" dirty="0"/>
              <a:t>                  </a:t>
            </a:r>
            <a:r>
              <a:rPr lang="en-US" dirty="0" err="1"/>
              <a:t>sig.level</a:t>
            </a:r>
            <a:r>
              <a:rPr lang="en-US" dirty="0"/>
              <a:t> = 0.05, </a:t>
            </a:r>
          </a:p>
          <a:p>
            <a:r>
              <a:rPr lang="en-US" dirty="0"/>
              <a:t>                  power = 0.80, </a:t>
            </a:r>
          </a:p>
          <a:p>
            <a:r>
              <a:rPr lang="en-US" dirty="0"/>
              <a:t>                  type = "</a:t>
            </a:r>
            <a:r>
              <a:rPr lang="en-US" dirty="0" err="1"/>
              <a:t>two.sample</a:t>
            </a:r>
            <a:r>
              <a:rPr lang="en-US" dirty="0"/>
              <a:t>", </a:t>
            </a:r>
          </a:p>
          <a:p>
            <a:r>
              <a:rPr lang="en-US" dirty="0"/>
              <a:t>                  alternative = "</a:t>
            </a:r>
            <a:r>
              <a:rPr lang="en-US" dirty="0" err="1"/>
              <a:t>two.sided</a:t>
            </a:r>
            <a:r>
              <a:rPr lang="en-US" dirty="0"/>
              <a:t>")</a:t>
            </a:r>
          </a:p>
          <a:p>
            <a:endParaRPr lang="en-US" dirty="0"/>
          </a:p>
          <a:p>
            <a:r>
              <a:rPr lang="en-US" dirty="0"/>
              <a:t>print(res)</a:t>
            </a:r>
          </a:p>
          <a:p>
            <a:r>
              <a:rPr lang="en-US" dirty="0"/>
              <a:t>plot(res) # </a:t>
            </a:r>
            <a:r>
              <a:rPr lang="en-US" dirty="0" err="1"/>
              <a:t>Vẽ</a:t>
            </a:r>
            <a:r>
              <a:rPr lang="en-US" dirty="0"/>
              <a:t> </a:t>
            </a:r>
            <a:r>
              <a:rPr lang="en-US" dirty="0" err="1"/>
              <a:t>biểu</a:t>
            </a:r>
            <a:r>
              <a:rPr lang="en-US" dirty="0"/>
              <a:t> </a:t>
            </a:r>
            <a:r>
              <a:rPr lang="en-US" dirty="0" err="1"/>
              <a:t>đồ</a:t>
            </a:r>
            <a:r>
              <a:rPr lang="en-US" dirty="0"/>
              <a:t> </a:t>
            </a:r>
            <a:r>
              <a:rPr lang="en-US" dirty="0" err="1"/>
              <a:t>tương</a:t>
            </a:r>
            <a:r>
              <a:rPr lang="en-US" dirty="0"/>
              <a:t> </a:t>
            </a:r>
            <a:r>
              <a:rPr lang="en-US" dirty="0" err="1"/>
              <a:t>quan</a:t>
            </a:r>
            <a:r>
              <a:rPr lang="en-US" dirty="0"/>
              <a:t> </a:t>
            </a:r>
            <a:r>
              <a:rPr lang="en-US" dirty="0" err="1"/>
              <a:t>giữa</a:t>
            </a:r>
            <a:r>
              <a:rPr lang="en-US" dirty="0"/>
              <a:t> </a:t>
            </a:r>
            <a:r>
              <a:rPr lang="en-US" dirty="0" err="1"/>
              <a:t>cỡ</a:t>
            </a:r>
            <a:r>
              <a:rPr lang="en-US" dirty="0"/>
              <a:t> </a:t>
            </a:r>
            <a:r>
              <a:rPr lang="en-US" dirty="0" err="1"/>
              <a:t>mẫu</a:t>
            </a:r>
            <a:r>
              <a:rPr lang="en-US" dirty="0"/>
              <a:t> </a:t>
            </a:r>
            <a:r>
              <a:rPr lang="en-US" dirty="0" err="1"/>
              <a:t>và</a:t>
            </a:r>
            <a:r>
              <a:rPr lang="en-US" dirty="0"/>
              <a:t> </a:t>
            </a:r>
            <a:r>
              <a:rPr lang="en-US" dirty="0" err="1"/>
              <a:t>uy</a:t>
            </a:r>
            <a:r>
              <a:rPr lang="en-US" dirty="0"/>
              <a:t> </a:t>
            </a:r>
            <a:r>
              <a:rPr lang="en-US" dirty="0" err="1"/>
              <a:t>lực</a:t>
            </a:r>
            <a:r>
              <a:rPr lang="en-US" dirty="0"/>
              <a:t> </a:t>
            </a:r>
            <a:r>
              <a:rPr lang="en-US" dirty="0" err="1"/>
              <a:t>thống</a:t>
            </a:r>
            <a:r>
              <a:rPr lang="en-US" dirty="0"/>
              <a:t> </a:t>
            </a:r>
            <a:r>
              <a:rPr lang="en-US" dirty="0" err="1"/>
              <a:t>kê</a:t>
            </a:r>
            <a:endParaRPr lang="en-US" dirty="0"/>
          </a:p>
        </p:txBody>
      </p:sp>
    </p:spTree>
    <p:extLst>
      <p:ext uri="{BB962C8B-B14F-4D97-AF65-F5344CB8AC3E}">
        <p14:creationId xmlns:p14="http://schemas.microsoft.com/office/powerpoint/2010/main" val="251610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943719"/>
          </a:xfrm>
        </p:spPr>
        <p:txBody>
          <a:bodyPr>
            <a:normAutofit fontScale="90000"/>
          </a:bodyPr>
          <a:lstStyle/>
          <a:p>
            <a:pPr algn="ctr">
              <a:lnSpc>
                <a:spcPct val="100000"/>
              </a:lnSpc>
            </a:pPr>
            <a:r>
              <a:rPr lang="vi-VN" sz="3600" b="1" dirty="0">
                <a:latin typeface="Times New Roman" panose="02020603050405020304" pitchFamily="18" charset="0"/>
                <a:cs typeface="Times New Roman" panose="02020603050405020304" pitchFamily="18" charset="0"/>
              </a:rPr>
              <a:t>Ước </a:t>
            </a:r>
            <a:r>
              <a:rPr lang="en-GB" sz="3600" b="1" dirty="0" err="1">
                <a:cs typeface="Times New Roman" panose="02020603050405020304" pitchFamily="18" charset="0"/>
              </a:rPr>
              <a:t>tính</a:t>
            </a:r>
            <a:r>
              <a:rPr lang="en-GB" sz="3600" b="1" dirty="0">
                <a:cs typeface="Times New Roman" panose="02020603050405020304" pitchFamily="18" charset="0"/>
              </a:rPr>
              <a:t> </a:t>
            </a:r>
            <a:r>
              <a:rPr lang="en-GB" sz="3600" b="1" dirty="0" err="1">
                <a:cs typeface="Times New Roman" panose="02020603050405020304" pitchFamily="18" charset="0"/>
              </a:rPr>
              <a:t>cỡ</a:t>
            </a:r>
            <a:r>
              <a:rPr lang="en-GB" sz="3600" b="1" dirty="0">
                <a:cs typeface="Times New Roman" panose="02020603050405020304" pitchFamily="18" charset="0"/>
              </a:rPr>
              <a:t> </a:t>
            </a:r>
            <a:r>
              <a:rPr lang="en-GB" sz="3600" b="1" dirty="0" err="1">
                <a:cs typeface="Times New Roman" panose="02020603050405020304" pitchFamily="18" charset="0"/>
              </a:rPr>
              <a:t>mẫu</a:t>
            </a:r>
            <a:r>
              <a:rPr lang="en-GB" sz="3600" b="1" dirty="0">
                <a:cs typeface="Times New Roman" panose="02020603050405020304" pitchFamily="18" charset="0"/>
              </a:rPr>
              <a:t> </a:t>
            </a:r>
            <a:r>
              <a:rPr lang="en-GB" sz="3600" b="1" dirty="0" err="1">
                <a:cs typeface="Times New Roman" panose="02020603050405020304" pitchFamily="18" charset="0"/>
              </a:rPr>
              <a:t>cho</a:t>
            </a:r>
            <a:r>
              <a:rPr lang="en-GB" sz="3600" b="1" dirty="0">
                <a:cs typeface="Times New Roman" panose="02020603050405020304" pitchFamily="18" charset="0"/>
              </a:rPr>
              <a:t> </a:t>
            </a:r>
            <a:r>
              <a:rPr lang="vi-VN" sz="3600" b="1" dirty="0">
                <a:cs typeface="Times New Roman" panose="02020603050405020304" pitchFamily="18" charset="0"/>
              </a:rPr>
              <a:t>nghiên cứu tương quan </a:t>
            </a:r>
            <a:br>
              <a:rPr lang="en-GB" sz="3600" b="1" dirty="0">
                <a:cs typeface="Times New Roman" panose="02020603050405020304" pitchFamily="18" charset="0"/>
              </a:rPr>
            </a:br>
            <a:r>
              <a:rPr lang="vi-VN" sz="3600" b="1" dirty="0">
                <a:cs typeface="Times New Roman" panose="02020603050405020304" pitchFamily="18" charset="0"/>
              </a:rPr>
              <a:t>(correlation study)</a:t>
            </a:r>
            <a:endParaRPr lang="en-US" sz="36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109D069-E0E9-3DA2-DC86-505E949F4282}"/>
              </a:ext>
            </a:extLst>
          </p:cNvPr>
          <p:cNvSpPr txBox="1"/>
          <p:nvPr/>
        </p:nvSpPr>
        <p:spPr>
          <a:xfrm>
            <a:off x="419851" y="1553222"/>
            <a:ext cx="6178173" cy="4893647"/>
          </a:xfrm>
          <a:prstGeom prst="rect">
            <a:avLst/>
          </a:prstGeom>
          <a:noFill/>
        </p:spPr>
        <p:txBody>
          <a:bodyPr wrap="square">
            <a:spAutoFit/>
          </a:bodyPr>
          <a:lstStyle/>
          <a:p>
            <a:pPr marL="342900" indent="-342900" algn="just">
              <a:buFont typeface="Arial" panose="020B0604020202020204" pitchFamily="34" charset="0"/>
              <a:buChar char="•"/>
            </a:pPr>
            <a:r>
              <a:rPr lang="vi-VN" sz="2400" dirty="0">
                <a:latin typeface="+mj-lt"/>
              </a:rPr>
              <a:t>Tình huống: Bạn muốn tìm hiểu xem có sự tương quan giữa Chỉ số khối cơ thể (BMI) và Huyết áp tâm thu ở thanh niên hay không.</a:t>
            </a:r>
            <a:endParaRPr lang="en-GB" sz="2400" dirty="0">
              <a:latin typeface="+mj-lt"/>
            </a:endParaRPr>
          </a:p>
          <a:p>
            <a:pPr marL="342900" indent="-342900" algn="just">
              <a:buFont typeface="Arial" panose="020B0604020202020204" pitchFamily="34" charset="0"/>
              <a:buChar char="•"/>
            </a:pPr>
            <a:r>
              <a:rPr lang="vi-VN" sz="2400" dirty="0">
                <a:latin typeface="+mj-lt"/>
              </a:rPr>
              <a:t>Dữ liệu giả định: Dựa trên các nghiên cứu quan sát trước đó, hệ số tương quan (</a:t>
            </a:r>
            <a:r>
              <a:rPr lang="vi-VN" sz="2400" i="1" dirty="0">
                <a:latin typeface="+mj-lt"/>
              </a:rPr>
              <a:t>r</a:t>
            </a:r>
            <a:r>
              <a:rPr lang="vi-VN" sz="2400" dirty="0">
                <a:latin typeface="+mj-lt"/>
              </a:rPr>
              <a:t>) dự kiến là khoảng 0.3 (tương quan thuận mức độ trung bình).</a:t>
            </a:r>
            <a:endParaRPr lang="en-GB" sz="2400" dirty="0">
              <a:latin typeface="+mj-lt"/>
            </a:endParaRPr>
          </a:p>
          <a:p>
            <a:pPr marL="342900" indent="-342900" algn="just">
              <a:buFont typeface="Arial" panose="020B0604020202020204" pitchFamily="34" charset="0"/>
              <a:buChar char="•"/>
            </a:pPr>
            <a:r>
              <a:rPr lang="vi-VN" sz="2400" dirty="0">
                <a:latin typeface="+mj-lt"/>
              </a:rPr>
              <a:t>Thông số: alpha = 0.05, Power = 0.9 (Yêu cầu độ tin cậy cao hơn).</a:t>
            </a:r>
            <a:endParaRPr lang="en-GB" sz="2400" dirty="0">
              <a:latin typeface="+mj-lt"/>
            </a:endParaRPr>
          </a:p>
          <a:p>
            <a:pPr algn="just"/>
            <a:endParaRPr lang="en-GB" sz="2400" dirty="0">
              <a:latin typeface="+mj-lt"/>
            </a:endParaRPr>
          </a:p>
          <a:p>
            <a:pPr algn="just"/>
            <a:r>
              <a:rPr lang="vi-VN" dirty="0">
                <a:latin typeface="+mj-lt"/>
              </a:rPr>
              <a:t>Doll, S., et al. (2002). Body mass index, abdominal adiposity and blood pressure: consistency of their association across developing and developed countries. International Journal of Obesity.</a:t>
            </a:r>
            <a:endParaRPr lang="en-US" dirty="0">
              <a:latin typeface="+mj-lt"/>
            </a:endParaRPr>
          </a:p>
        </p:txBody>
      </p:sp>
      <p:sp>
        <p:nvSpPr>
          <p:cNvPr id="10" name="TextBox 9">
            <a:extLst>
              <a:ext uri="{FF2B5EF4-FFF2-40B4-BE49-F238E27FC236}">
                <a16:creationId xmlns:a16="http://schemas.microsoft.com/office/drawing/2014/main" id="{4F26E1A2-6D0E-30A0-D587-0DEEB41BD440}"/>
              </a:ext>
            </a:extLst>
          </p:cNvPr>
          <p:cNvSpPr txBox="1"/>
          <p:nvPr/>
        </p:nvSpPr>
        <p:spPr>
          <a:xfrm>
            <a:off x="7267387" y="1612986"/>
            <a:ext cx="4566023" cy="3970318"/>
          </a:xfrm>
          <a:prstGeom prst="rect">
            <a:avLst/>
          </a:prstGeom>
          <a:noFill/>
        </p:spPr>
        <p:txBody>
          <a:bodyPr wrap="square">
            <a:spAutoFit/>
          </a:bodyPr>
          <a:lstStyle/>
          <a:p>
            <a:r>
              <a:rPr lang="vi-VN" dirty="0"/>
              <a:t># Tính cỡ mẫu cho nghiên cứu tương quan</a:t>
            </a:r>
          </a:p>
          <a:p>
            <a:r>
              <a:rPr lang="vi-VN" dirty="0"/>
              <a:t>r_val &lt;- 0.3  # Hệ số tương quan kỳ vọng</a:t>
            </a:r>
          </a:p>
          <a:p>
            <a:r>
              <a:rPr lang="vi-VN" dirty="0"/>
              <a:t>alpha_val &lt;- 0.05</a:t>
            </a:r>
          </a:p>
          <a:p>
            <a:r>
              <a:rPr lang="vi-VN" dirty="0"/>
              <a:t>power_val &lt;- 0.90</a:t>
            </a:r>
          </a:p>
          <a:p>
            <a:endParaRPr lang="vi-VN" dirty="0"/>
          </a:p>
          <a:p>
            <a:r>
              <a:rPr lang="vi-VN" dirty="0"/>
              <a:t>sample_size_corr &lt;- pwr.r.test(r = r_val, </a:t>
            </a:r>
          </a:p>
          <a:p>
            <a:r>
              <a:rPr lang="vi-VN" dirty="0"/>
              <a:t>                               sig.level = alpha_val, </a:t>
            </a:r>
          </a:p>
          <a:p>
            <a:r>
              <a:rPr lang="vi-VN" dirty="0"/>
              <a:t>                               power = power_val, </a:t>
            </a:r>
          </a:p>
          <a:p>
            <a:r>
              <a:rPr lang="vi-VN" dirty="0"/>
              <a:t>                               alternative = "two.sided")</a:t>
            </a:r>
          </a:p>
          <a:p>
            <a:endParaRPr lang="vi-VN" dirty="0"/>
          </a:p>
          <a:p>
            <a:r>
              <a:rPr lang="vi-VN" dirty="0"/>
              <a:t>print(sample_size_corr)</a:t>
            </a:r>
          </a:p>
          <a:p>
            <a:r>
              <a:rPr lang="vi-VN" dirty="0"/>
              <a:t># Kết quả: n ≈ 112.3 (Cần khảo sát ít nhất 113 người)</a:t>
            </a:r>
            <a:endParaRPr lang="en-US" dirty="0"/>
          </a:p>
        </p:txBody>
      </p:sp>
    </p:spTree>
    <p:extLst>
      <p:ext uri="{BB962C8B-B14F-4D97-AF65-F5344CB8AC3E}">
        <p14:creationId xmlns:p14="http://schemas.microsoft.com/office/powerpoint/2010/main" val="1178726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943719"/>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TỔNG KẾT BẢNG TRA CỨU NHANH</a:t>
            </a:r>
            <a:endParaRPr lang="en-US" sz="36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8EE3A01-A135-9B8E-3064-F37B7E61FEF0}"/>
              </a:ext>
            </a:extLst>
          </p:cNvPr>
          <p:cNvGraphicFramePr>
            <a:graphicFrameLocks noGrp="1"/>
          </p:cNvGraphicFramePr>
          <p:nvPr>
            <p:extLst>
              <p:ext uri="{D42A27DB-BD31-4B8C-83A1-F6EECF244321}">
                <p14:modId xmlns:p14="http://schemas.microsoft.com/office/powerpoint/2010/main" val="1411052751"/>
              </p:ext>
            </p:extLst>
          </p:nvPr>
        </p:nvGraphicFramePr>
        <p:xfrm>
          <a:off x="838200" y="2031300"/>
          <a:ext cx="10515600" cy="2057400"/>
        </p:xfrm>
        <a:graphic>
          <a:graphicData uri="http://schemas.openxmlformats.org/drawingml/2006/table">
            <a:tbl>
              <a:tblPr/>
              <a:tblGrid>
                <a:gridCol w="3505200">
                  <a:extLst>
                    <a:ext uri="{9D8B030D-6E8A-4147-A177-3AD203B41FA5}">
                      <a16:colId xmlns:a16="http://schemas.microsoft.com/office/drawing/2014/main" val="1341075643"/>
                    </a:ext>
                  </a:extLst>
                </a:gridCol>
                <a:gridCol w="3505200">
                  <a:extLst>
                    <a:ext uri="{9D8B030D-6E8A-4147-A177-3AD203B41FA5}">
                      <a16:colId xmlns:a16="http://schemas.microsoft.com/office/drawing/2014/main" val="1496965827"/>
                    </a:ext>
                  </a:extLst>
                </a:gridCol>
                <a:gridCol w="3505200">
                  <a:extLst>
                    <a:ext uri="{9D8B030D-6E8A-4147-A177-3AD203B41FA5}">
                      <a16:colId xmlns:a16="http://schemas.microsoft.com/office/drawing/2014/main" val="614560356"/>
                    </a:ext>
                  </a:extLst>
                </a:gridCol>
              </a:tblGrid>
              <a:tr h="0">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Mục tiêu nghiên cứu</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Hàm trong package pwr</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b="1">
                          <a:solidFill>
                            <a:srgbClr val="1F1F1F"/>
                          </a:solidFill>
                          <a:effectLst/>
                          <a:latin typeface="Times New Roman" panose="02020603050405020304" pitchFamily="18" charset="0"/>
                          <a:cs typeface="Times New Roman" panose="02020603050405020304" pitchFamily="18" charset="0"/>
                        </a:rPr>
                        <a:t>Tham số chính cần chuẩn bị</a:t>
                      </a:r>
                      <a:endParaRPr lang="en-US"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381207636"/>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2 trung bình</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pwr.t.test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GB" sz="2200">
                          <a:solidFill>
                            <a:srgbClr val="1F1F1F"/>
                          </a:solidFill>
                          <a:effectLst/>
                          <a:latin typeface="Times New Roman" panose="02020603050405020304" pitchFamily="18" charset="0"/>
                          <a:cs typeface="Times New Roman" panose="02020603050405020304" pitchFamily="18" charset="0"/>
                        </a:rPr>
                        <a:t>Mean 1, Mean 2, SD</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65448921"/>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2 tỷ lệ</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pwr.2p.test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dirty="0" err="1">
                          <a:solidFill>
                            <a:srgbClr val="1F1F1F"/>
                          </a:solidFill>
                          <a:effectLst/>
                          <a:latin typeface="Times New Roman" panose="02020603050405020304" pitchFamily="18" charset="0"/>
                          <a:cs typeface="Times New Roman" panose="02020603050405020304" pitchFamily="18" charset="0"/>
                        </a:rPr>
                        <a:t>Tỷ</a:t>
                      </a:r>
                      <a:r>
                        <a:rPr lang="en-US" sz="2200" dirty="0">
                          <a:solidFill>
                            <a:srgbClr val="1F1F1F"/>
                          </a:solidFill>
                          <a:effectLst/>
                          <a:latin typeface="Times New Roman" panose="02020603050405020304" pitchFamily="18" charset="0"/>
                          <a:cs typeface="Times New Roman" panose="02020603050405020304" pitchFamily="18" charset="0"/>
                        </a:rPr>
                        <a:t> </a:t>
                      </a:r>
                      <a:r>
                        <a:rPr lang="en-US" sz="2200" dirty="0" err="1">
                          <a:solidFill>
                            <a:srgbClr val="1F1F1F"/>
                          </a:solidFill>
                          <a:effectLst/>
                          <a:latin typeface="Times New Roman" panose="02020603050405020304" pitchFamily="18" charset="0"/>
                          <a:cs typeface="Times New Roman" panose="02020603050405020304" pitchFamily="18" charset="0"/>
                        </a:rPr>
                        <a:t>lệ</a:t>
                      </a:r>
                      <a:r>
                        <a:rPr lang="en-US" sz="2200" dirty="0">
                          <a:solidFill>
                            <a:srgbClr val="1F1F1F"/>
                          </a:solidFill>
                          <a:effectLst/>
                          <a:latin typeface="Times New Roman" panose="02020603050405020304" pitchFamily="18" charset="0"/>
                          <a:cs typeface="Times New Roman" panose="02020603050405020304" pitchFamily="18" charset="0"/>
                        </a:rPr>
                        <a:t> 1 (p_1), </a:t>
                      </a:r>
                      <a:r>
                        <a:rPr lang="en-US" sz="2200" dirty="0" err="1">
                          <a:solidFill>
                            <a:srgbClr val="1F1F1F"/>
                          </a:solidFill>
                          <a:effectLst/>
                          <a:latin typeface="Times New Roman" panose="02020603050405020304" pitchFamily="18" charset="0"/>
                          <a:cs typeface="Times New Roman" panose="02020603050405020304" pitchFamily="18" charset="0"/>
                        </a:rPr>
                        <a:t>Tỷ</a:t>
                      </a:r>
                      <a:r>
                        <a:rPr lang="en-US" sz="2200" dirty="0">
                          <a:solidFill>
                            <a:srgbClr val="1F1F1F"/>
                          </a:solidFill>
                          <a:effectLst/>
                          <a:latin typeface="Times New Roman" panose="02020603050405020304" pitchFamily="18" charset="0"/>
                          <a:cs typeface="Times New Roman" panose="02020603050405020304" pitchFamily="18" charset="0"/>
                        </a:rPr>
                        <a:t> </a:t>
                      </a:r>
                      <a:r>
                        <a:rPr lang="en-US" sz="2200" dirty="0" err="1">
                          <a:solidFill>
                            <a:srgbClr val="1F1F1F"/>
                          </a:solidFill>
                          <a:effectLst/>
                          <a:latin typeface="Times New Roman" panose="02020603050405020304" pitchFamily="18" charset="0"/>
                          <a:cs typeface="Times New Roman" panose="02020603050405020304" pitchFamily="18" charset="0"/>
                        </a:rPr>
                        <a:t>lệ</a:t>
                      </a:r>
                      <a:r>
                        <a:rPr lang="en-US" sz="2200" dirty="0">
                          <a:solidFill>
                            <a:srgbClr val="1F1F1F"/>
                          </a:solidFill>
                          <a:effectLst/>
                          <a:latin typeface="Times New Roman" panose="02020603050405020304" pitchFamily="18" charset="0"/>
                          <a:cs typeface="Times New Roman" panose="02020603050405020304" pitchFamily="18" charset="0"/>
                        </a:rPr>
                        <a:t> 2 (p_2)</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44144559"/>
                  </a:ext>
                </a:extLst>
              </a:tr>
              <a:tr h="0">
                <a:tc>
                  <a:txBody>
                    <a:bodyPr/>
                    <a:lstStyle/>
                    <a:p>
                      <a:pPr rtl="0"/>
                      <a:r>
                        <a:rPr lang="vi-VN" sz="2200" b="1" dirty="0">
                          <a:solidFill>
                            <a:srgbClr val="1F1F1F"/>
                          </a:solidFill>
                          <a:effectLst/>
                          <a:latin typeface="Times New Roman" panose="02020603050405020304" pitchFamily="18" charset="0"/>
                          <a:cs typeface="Times New Roman" panose="02020603050405020304" pitchFamily="18" charset="0"/>
                        </a:rPr>
                        <a:t>Tìm tương quan (r)</a:t>
                      </a:r>
                      <a:endParaRPr lang="vi-VN" sz="2200" dirty="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a:solidFill>
                            <a:srgbClr val="1F1F1F"/>
                          </a:solidFill>
                          <a:effectLst/>
                          <a:latin typeface="Times New Roman" panose="02020603050405020304" pitchFamily="18" charset="0"/>
                          <a:cs typeface="Times New Roman" panose="02020603050405020304" pitchFamily="18" charset="0"/>
                        </a:rPr>
                        <a:t>pwr.r.test</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pt-BR" sz="2200" dirty="0">
                          <a:solidFill>
                            <a:srgbClr val="1F1F1F"/>
                          </a:solidFill>
                          <a:effectLst/>
                          <a:latin typeface="Times New Roman" panose="02020603050405020304" pitchFamily="18" charset="0"/>
                          <a:cs typeface="Times New Roman" panose="02020603050405020304" pitchFamily="18" charset="0"/>
                        </a:rPr>
                        <a:t>Hệ số tương quan r</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52759426"/>
                  </a:ext>
                </a:extLst>
              </a:tr>
              <a:tr h="0">
                <a:tc>
                  <a:txBody>
                    <a:bodyPr/>
                    <a:lstStyle/>
                    <a:p>
                      <a:pPr rtl="0"/>
                      <a:r>
                        <a:rPr lang="de-DE" sz="2200" b="1">
                          <a:solidFill>
                            <a:srgbClr val="1F1F1F"/>
                          </a:solidFill>
                          <a:effectLst/>
                          <a:latin typeface="Times New Roman" panose="02020603050405020304" pitchFamily="18" charset="0"/>
                          <a:cs typeface="Times New Roman" panose="02020603050405020304" pitchFamily="18" charset="0"/>
                        </a:rPr>
                        <a:t>So sánh &gt; 2 trung bình</a:t>
                      </a:r>
                      <a:endParaRPr lang="de-DE" sz="220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US" sz="2200" dirty="0" err="1">
                          <a:solidFill>
                            <a:srgbClr val="1F1F1F"/>
                          </a:solidFill>
                          <a:effectLst/>
                          <a:latin typeface="Times New Roman" panose="02020603050405020304" pitchFamily="18" charset="0"/>
                          <a:cs typeface="Times New Roman" panose="02020603050405020304" pitchFamily="18" charset="0"/>
                        </a:rPr>
                        <a:t>pwr.anova.test</a:t>
                      </a:r>
                      <a:endParaRPr lang="en-US" sz="2200" dirty="0">
                        <a:solidFill>
                          <a:srgbClr val="1F1F1F"/>
                        </a:solidFill>
                        <a:effectLst/>
                        <a:latin typeface="Times New Roman" panose="02020603050405020304" pitchFamily="18" charset="0"/>
                        <a:cs typeface="Times New Roman" panose="02020603050405020304" pitchFamily="18" charset="0"/>
                      </a:endParaRP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tc>
                  <a:txBody>
                    <a:bodyPr/>
                    <a:lstStyle/>
                    <a:p>
                      <a:pPr rtl="0"/>
                      <a:r>
                        <a:rPr lang="en-GB" sz="2200" dirty="0" err="1">
                          <a:solidFill>
                            <a:srgbClr val="1F1F1F"/>
                          </a:solidFill>
                          <a:effectLst/>
                          <a:latin typeface="Times New Roman" panose="02020603050405020304" pitchFamily="18" charset="0"/>
                          <a:cs typeface="Times New Roman" panose="02020603050405020304" pitchFamily="18" charset="0"/>
                        </a:rPr>
                        <a:t>Số</a:t>
                      </a:r>
                      <a:r>
                        <a:rPr lang="en-GB" sz="2200" dirty="0">
                          <a:solidFill>
                            <a:srgbClr val="1F1F1F"/>
                          </a:solidFill>
                          <a:effectLst/>
                          <a:latin typeface="Times New Roman" panose="02020603050405020304" pitchFamily="18" charset="0"/>
                          <a:cs typeface="Times New Roman" panose="02020603050405020304" pitchFamily="18" charset="0"/>
                        </a:rPr>
                        <a:t> </a:t>
                      </a:r>
                      <a:r>
                        <a:rPr lang="en-GB" sz="2200" dirty="0" err="1">
                          <a:solidFill>
                            <a:srgbClr val="1F1F1F"/>
                          </a:solidFill>
                          <a:effectLst/>
                          <a:latin typeface="Times New Roman" panose="02020603050405020304" pitchFamily="18" charset="0"/>
                          <a:cs typeface="Times New Roman" panose="02020603050405020304" pitchFamily="18" charset="0"/>
                        </a:rPr>
                        <a:t>nhóm</a:t>
                      </a:r>
                      <a:r>
                        <a:rPr lang="en-GB" sz="2200" dirty="0">
                          <a:solidFill>
                            <a:srgbClr val="1F1F1F"/>
                          </a:solidFill>
                          <a:effectLst/>
                          <a:latin typeface="Times New Roman" panose="02020603050405020304" pitchFamily="18" charset="0"/>
                          <a:cs typeface="Times New Roman" panose="02020603050405020304" pitchFamily="18" charset="0"/>
                        </a:rPr>
                        <a:t> (k), f (effect size)</a:t>
                      </a:r>
                    </a:p>
                  </a:txBody>
                  <a:tcPr marL="57150" marR="57150" marT="38100" marB="38100"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404268111"/>
                  </a:ext>
                </a:extLst>
              </a:tr>
            </a:tbl>
          </a:graphicData>
        </a:graphic>
      </p:graphicFrame>
    </p:spTree>
    <p:extLst>
      <p:ext uri="{BB962C8B-B14F-4D97-AF65-F5344CB8AC3E}">
        <p14:creationId xmlns:p14="http://schemas.microsoft.com/office/powerpoint/2010/main" val="13551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7669"/>
            <a:ext cx="10515600" cy="776381"/>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CÁC SAI LẦM THƯỜNG GẶP</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4CC41F5-D3BE-C7E4-999F-D5BAB8D3CDB5}"/>
              </a:ext>
            </a:extLst>
          </p:cNvPr>
          <p:cNvSpPr txBox="1"/>
          <p:nvPr/>
        </p:nvSpPr>
        <p:spPr>
          <a:xfrm>
            <a:off x="838199" y="1434354"/>
            <a:ext cx="10421471" cy="4547527"/>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vi-VN" sz="2800" b="1" dirty="0">
                <a:latin typeface="+mj-lt"/>
              </a:rPr>
              <a:t>Cỡ mẫu quá nhỏ</a:t>
            </a:r>
            <a:r>
              <a:rPr lang="vi-VN" sz="2800" dirty="0">
                <a:latin typeface="+mj-lt"/>
              </a:rPr>
              <a:t>: Không đủ sức mạnh để phát hiện sự khác biệt (kết quả âm tính giả).</a:t>
            </a:r>
            <a:endParaRPr lang="en-GB" sz="2800" dirty="0">
              <a:latin typeface="+mj-lt"/>
            </a:endParaRPr>
          </a:p>
          <a:p>
            <a:pPr marL="457200" indent="-457200" algn="just">
              <a:lnSpc>
                <a:spcPct val="150000"/>
              </a:lnSpc>
              <a:buFont typeface="Arial" panose="020B0604020202020204" pitchFamily="34" charset="0"/>
              <a:buChar char="•"/>
            </a:pPr>
            <a:r>
              <a:rPr lang="vi-VN" sz="2800" b="1" dirty="0">
                <a:latin typeface="+mj-lt"/>
              </a:rPr>
              <a:t>Cỡ mẫu quá lớn</a:t>
            </a:r>
            <a:r>
              <a:rPr lang="vi-VN" sz="2800" dirty="0">
                <a:latin typeface="+mj-lt"/>
              </a:rPr>
              <a:t>: Lãng phí nguồn lực, thời gian và có thể vi phạm đạo đức nếu bắt quá nhiều người tham gia thử nghiệm không cần thiết.</a:t>
            </a:r>
            <a:endParaRPr lang="en-GB" sz="2800" dirty="0">
              <a:latin typeface="+mj-lt"/>
            </a:endParaRPr>
          </a:p>
          <a:p>
            <a:pPr marL="457200" indent="-457200" algn="just">
              <a:lnSpc>
                <a:spcPct val="150000"/>
              </a:lnSpc>
              <a:buFont typeface="Arial" panose="020B0604020202020204" pitchFamily="34" charset="0"/>
              <a:buChar char="•"/>
            </a:pPr>
            <a:r>
              <a:rPr lang="vi-VN" sz="2800" b="1" dirty="0">
                <a:latin typeface="+mj-lt"/>
              </a:rPr>
              <a:t>Thiết kế không phù hợp</a:t>
            </a:r>
            <a:r>
              <a:rPr lang="vi-VN" sz="2800" dirty="0">
                <a:latin typeface="+mj-lt"/>
              </a:rPr>
              <a:t>: Dùng thiết kế cắt ngang để kết luận về nguyên nhân - hệ quả (điều này là sai về logic).</a:t>
            </a:r>
            <a:endParaRPr lang="en-US" sz="2800" dirty="0">
              <a:latin typeface="+mj-lt"/>
            </a:endParaRPr>
          </a:p>
        </p:txBody>
      </p:sp>
    </p:spTree>
    <p:extLst>
      <p:ext uri="{BB962C8B-B14F-4D97-AF65-F5344CB8AC3E}">
        <p14:creationId xmlns:p14="http://schemas.microsoft.com/office/powerpoint/2010/main" val="739851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3: TÌNH HUỐNG THỰC HÀNH TỔNG HỢP</a:t>
            </a:r>
          </a:p>
        </p:txBody>
      </p:sp>
    </p:spTree>
    <p:extLst>
      <p:ext uri="{BB962C8B-B14F-4D97-AF65-F5344CB8AC3E}">
        <p14:creationId xmlns:p14="http://schemas.microsoft.com/office/powerpoint/2010/main" val="1068419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65952"/>
            <a:ext cx="10515600" cy="830169"/>
          </a:xfrm>
        </p:spPr>
        <p:txBody>
          <a:bodyPr>
            <a:normAutofit/>
          </a:bodyPr>
          <a:lstStyle/>
          <a:p>
            <a:pPr algn="ctr"/>
            <a:r>
              <a:rPr lang="en-GB" sz="3600" b="1" dirty="0" err="1">
                <a:cs typeface="Times New Roman" panose="02020603050405020304" pitchFamily="18" charset="0"/>
              </a:rPr>
              <a:t>Ví</a:t>
            </a:r>
            <a:r>
              <a:rPr lang="en-GB" sz="3600" b="1" dirty="0">
                <a:cs typeface="Times New Roman" panose="02020603050405020304" pitchFamily="18" charset="0"/>
              </a:rPr>
              <a:t> </a:t>
            </a:r>
            <a:r>
              <a:rPr lang="en-GB" sz="3600" b="1" dirty="0" err="1">
                <a:cs typeface="Times New Roman" panose="02020603050405020304" pitchFamily="18" charset="0"/>
              </a:rPr>
              <a:t>dụ</a:t>
            </a:r>
            <a:r>
              <a:rPr lang="en-GB" sz="3600" b="1" dirty="0">
                <a:cs typeface="Times New Roman" panose="02020603050405020304" pitchFamily="18" charset="0"/>
              </a:rPr>
              <a:t> </a:t>
            </a: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317635"/>
            <a:ext cx="10515600" cy="4351338"/>
          </a:xfrm>
        </p:spPr>
        <p:txBody>
          <a:bodyPr>
            <a:normAutofit/>
          </a:bodyPr>
          <a:lstStyle/>
          <a:p>
            <a:r>
              <a:rPr lang="vi-VN" b="1" dirty="0"/>
              <a:t>Tình huống: </a:t>
            </a:r>
            <a:r>
              <a:rPr lang="vi-VN" dirty="0"/>
              <a:t>Thử nghiệm thuốc hạ đường huyết mới</a:t>
            </a:r>
          </a:p>
          <a:p>
            <a:r>
              <a:rPr lang="vi-VN" b="1" dirty="0"/>
              <a:t>Mục tiêu:</a:t>
            </a:r>
            <a:r>
              <a:rPr lang="vi-VN" dirty="0"/>
              <a:t> So sánh hiệu quả giảm HbA1c của thuốc A so với thuốc B sau 3 tháng điều trị.</a:t>
            </a:r>
            <a:endParaRPr lang="en-GB" dirty="0"/>
          </a:p>
          <a:p>
            <a:r>
              <a:rPr lang="en-GB" dirty="0" err="1"/>
              <a:t>Thiết</a:t>
            </a:r>
            <a:r>
              <a:rPr lang="en-GB" dirty="0"/>
              <a:t> </a:t>
            </a:r>
            <a:r>
              <a:rPr lang="en-GB" dirty="0" err="1"/>
              <a:t>kế</a:t>
            </a:r>
            <a:r>
              <a:rPr lang="en-GB" dirty="0"/>
              <a:t> </a:t>
            </a:r>
            <a:r>
              <a:rPr lang="en-GB" dirty="0" err="1"/>
              <a:t>nghiên</a:t>
            </a:r>
            <a:r>
              <a:rPr lang="en-GB" dirty="0"/>
              <a:t> </a:t>
            </a:r>
            <a:r>
              <a:rPr lang="en-GB" dirty="0" err="1"/>
              <a:t>cứu</a:t>
            </a:r>
            <a:r>
              <a:rPr lang="en-GB" dirty="0"/>
              <a:t> </a:t>
            </a:r>
            <a:r>
              <a:rPr lang="en-GB" dirty="0" err="1"/>
              <a:t>như</a:t>
            </a:r>
            <a:r>
              <a:rPr lang="en-GB" dirty="0"/>
              <a:t> </a:t>
            </a:r>
            <a:r>
              <a:rPr lang="en-GB" dirty="0" err="1"/>
              <a:t>thế</a:t>
            </a:r>
            <a:r>
              <a:rPr lang="en-GB" dirty="0"/>
              <a:t> </a:t>
            </a:r>
            <a:r>
              <a:rPr lang="en-GB" dirty="0" err="1"/>
              <a:t>nào</a:t>
            </a:r>
            <a:r>
              <a:rPr lang="en-GB" dirty="0"/>
              <a:t>?</a:t>
            </a:r>
            <a:endParaRPr lang="vi-VN" dirty="0"/>
          </a:p>
        </p:txBody>
      </p:sp>
    </p:spTree>
    <p:extLst>
      <p:ext uri="{BB962C8B-B14F-4D97-AF65-F5344CB8AC3E}">
        <p14:creationId xmlns:p14="http://schemas.microsoft.com/office/powerpoint/2010/main" val="1836382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24120"/>
            <a:ext cx="10515600" cy="830169"/>
          </a:xfrm>
        </p:spPr>
        <p:txBody>
          <a:bodyPr>
            <a:normAutofit/>
          </a:bodyPr>
          <a:lstStyle/>
          <a:p>
            <a:pPr algn="ctr"/>
            <a:r>
              <a:rPr lang="en-GB" sz="3600" b="1" dirty="0" err="1">
                <a:cs typeface="Times New Roman" panose="02020603050405020304" pitchFamily="18" charset="0"/>
              </a:rPr>
              <a:t>Ví</a:t>
            </a:r>
            <a:r>
              <a:rPr lang="en-GB" sz="3600" b="1" dirty="0">
                <a:cs typeface="Times New Roman" panose="02020603050405020304" pitchFamily="18" charset="0"/>
              </a:rPr>
              <a:t> </a:t>
            </a:r>
            <a:r>
              <a:rPr lang="en-GB" sz="3600" b="1" dirty="0" err="1">
                <a:cs typeface="Times New Roman" panose="02020603050405020304" pitchFamily="18" charset="0"/>
              </a:rPr>
              <a:t>dụ</a:t>
            </a:r>
            <a:r>
              <a:rPr lang="en-GB" sz="3600" b="1" dirty="0">
                <a:cs typeface="Times New Roman" panose="02020603050405020304" pitchFamily="18" charset="0"/>
              </a:rPr>
              <a:t> </a:t>
            </a: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83C703F-0055-808E-D213-37391F74FB7C}"/>
              </a:ext>
            </a:extLst>
          </p:cNvPr>
          <p:cNvPicPr>
            <a:picLocks noChangeAspect="1"/>
          </p:cNvPicPr>
          <p:nvPr/>
        </p:nvPicPr>
        <p:blipFill>
          <a:blip r:embed="rId2"/>
          <a:stretch>
            <a:fillRect/>
          </a:stretch>
        </p:blipFill>
        <p:spPr>
          <a:xfrm>
            <a:off x="1843289" y="1134937"/>
            <a:ext cx="8505422" cy="5415279"/>
          </a:xfrm>
          <a:prstGeom prst="rect">
            <a:avLst/>
          </a:prstGeom>
        </p:spPr>
      </p:pic>
    </p:spTree>
    <p:extLst>
      <p:ext uri="{BB962C8B-B14F-4D97-AF65-F5344CB8AC3E}">
        <p14:creationId xmlns:p14="http://schemas.microsoft.com/office/powerpoint/2010/main" val="123747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a:t>
            </a:r>
            <a:r>
              <a:rPr lang="en-US" sz="3600" b="1" dirty="0">
                <a:cs typeface="Times New Roman" panose="02020603050405020304" pitchFamily="18" charset="0"/>
              </a:rPr>
              <a:t>4</a:t>
            </a:r>
            <a:r>
              <a:rPr lang="en-US" sz="3600" b="1" dirty="0">
                <a:latin typeface="Times New Roman" panose="02020603050405020304" pitchFamily="18" charset="0"/>
                <a:cs typeface="Times New Roman" panose="02020603050405020304" pitchFamily="18" charset="0"/>
              </a:rPr>
              <a:t>: TRÍCH DẪN Y VĂN TRONG NGHIÊN CỨU KHOA HỌC</a:t>
            </a:r>
          </a:p>
        </p:txBody>
      </p:sp>
    </p:spTree>
    <p:extLst>
      <p:ext uri="{BB962C8B-B14F-4D97-AF65-F5344CB8AC3E}">
        <p14:creationId xmlns:p14="http://schemas.microsoft.com/office/powerpoint/2010/main" val="2585104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365125"/>
            <a:ext cx="10515600" cy="525369"/>
          </a:xfrm>
        </p:spPr>
        <p:txBody>
          <a:bodyPr>
            <a:no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Tại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sao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phải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1473013"/>
            <a:ext cx="10515600" cy="4351338"/>
          </a:xfrm>
        </p:spPr>
        <p:txBody>
          <a:bodyPr>
            <a:normAutofit/>
          </a:bodyPr>
          <a:lstStyle/>
          <a:p>
            <a:pPr algn="just">
              <a:lnSpc>
                <a:spcPct val="100000"/>
              </a:lnSpc>
            </a:pPr>
            <a:r>
              <a:rPr lang="vi-VN" b="1" dirty="0">
                <a:latin typeface="+mj-lt"/>
              </a:rPr>
              <a:t>Ghi nhận công lao: </a:t>
            </a:r>
            <a:r>
              <a:rPr lang="vi-VN" dirty="0">
                <a:latin typeface="+mj-lt"/>
              </a:rPr>
              <a:t>Tôn trọng tài sản trí tuệ của tác giả đi trước.</a:t>
            </a:r>
            <a:endParaRPr lang="en-GB" dirty="0">
              <a:latin typeface="+mj-lt"/>
            </a:endParaRPr>
          </a:p>
          <a:p>
            <a:pPr algn="just">
              <a:lnSpc>
                <a:spcPct val="100000"/>
              </a:lnSpc>
            </a:pPr>
            <a:r>
              <a:rPr lang="vi-VN" b="1" dirty="0">
                <a:latin typeface="+mj-lt"/>
              </a:rPr>
              <a:t>Bằng chứng khoa học: </a:t>
            </a:r>
            <a:r>
              <a:rPr lang="vi-VN" dirty="0">
                <a:latin typeface="+mj-lt"/>
              </a:rPr>
              <a:t>Chứng minh cho các luận điểm, giả thuyết bạn đưa ra.</a:t>
            </a:r>
            <a:endParaRPr lang="en-GB" dirty="0">
              <a:latin typeface="+mj-lt"/>
            </a:endParaRPr>
          </a:p>
          <a:p>
            <a:pPr algn="just">
              <a:lnSpc>
                <a:spcPct val="100000"/>
              </a:lnSpc>
            </a:pPr>
            <a:r>
              <a:rPr lang="vi-VN" b="1" dirty="0">
                <a:latin typeface="+mj-lt"/>
              </a:rPr>
              <a:t>Hệ thống hóa: </a:t>
            </a:r>
            <a:r>
              <a:rPr lang="vi-VN" dirty="0">
                <a:latin typeface="+mj-lt"/>
              </a:rPr>
              <a:t>Giúp người đọc dễ dàng tìm lại nguồn gốc thông tin.</a:t>
            </a:r>
            <a:endParaRPr lang="en-GB" sz="2800" dirty="0">
              <a:latin typeface="+mj-lt"/>
            </a:endParaRPr>
          </a:p>
        </p:txBody>
      </p:sp>
    </p:spTree>
    <p:extLst>
      <p:ext uri="{BB962C8B-B14F-4D97-AF65-F5344CB8AC3E}">
        <p14:creationId xmlns:p14="http://schemas.microsoft.com/office/powerpoint/2010/main" val="4209087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phong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phổ</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biến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trong</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391113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vi-VN" sz="2400" b="1" dirty="0">
                <a:latin typeface="+mj-lt"/>
              </a:rPr>
              <a:t>Hệ thống Vancouver (Phổ biến nhất trong Y khoa): </a:t>
            </a:r>
            <a:r>
              <a:rPr lang="vi-VN" sz="2400" dirty="0">
                <a:latin typeface="+mj-lt"/>
              </a:rPr>
              <a:t>Sử dụng số thứ tự theo lần xuất hiện trong bài [1], [2].</a:t>
            </a:r>
            <a:endParaRPr lang="en-GB" sz="2400" dirty="0">
              <a:latin typeface="+mj-lt"/>
            </a:endParaRPr>
          </a:p>
          <a:p>
            <a:pPr marL="800100" lvl="1" indent="-342900" algn="just">
              <a:lnSpc>
                <a:spcPct val="150000"/>
              </a:lnSpc>
              <a:buFont typeface="Wingdings" panose="05000000000000000000" pitchFamily="2" charset="2"/>
              <a:buChar char="§"/>
            </a:pPr>
            <a:r>
              <a:rPr lang="vi-VN" sz="2400" dirty="0">
                <a:latin typeface="+mj-lt"/>
              </a:rPr>
              <a:t>Ví dụ: Ung thư phổi là nguyên nhân gây tử vong hàng đầu [1].</a:t>
            </a:r>
            <a:endParaRPr lang="en-GB" sz="2400" dirty="0">
              <a:latin typeface="+mj-lt"/>
            </a:endParaRPr>
          </a:p>
          <a:p>
            <a:pPr marL="342900" indent="-342900" algn="just">
              <a:lnSpc>
                <a:spcPct val="150000"/>
              </a:lnSpc>
              <a:buFont typeface="Arial" panose="020B0604020202020204" pitchFamily="34" charset="0"/>
              <a:buChar char="•"/>
            </a:pPr>
            <a:endParaRPr lang="en-GB" sz="2400" dirty="0">
              <a:latin typeface="+mj-lt"/>
            </a:endParaRPr>
          </a:p>
          <a:p>
            <a:pPr marL="342900" indent="-342900" algn="just">
              <a:lnSpc>
                <a:spcPct val="150000"/>
              </a:lnSpc>
              <a:buFont typeface="Arial" panose="020B0604020202020204" pitchFamily="34" charset="0"/>
              <a:buChar char="•"/>
            </a:pPr>
            <a:r>
              <a:rPr lang="vi-VN" sz="2400" b="1" dirty="0">
                <a:latin typeface="+mj-lt"/>
              </a:rPr>
              <a:t>Hệ thống APA (Tên tác giả - Năm): </a:t>
            </a:r>
            <a:r>
              <a:rPr lang="vi-VN" sz="2400" dirty="0">
                <a:latin typeface="+mj-lt"/>
              </a:rPr>
              <a:t>Thường dùng trong các tạp chí sức khỏe cộng đồng hoặc tâm lý học.</a:t>
            </a:r>
            <a:endParaRPr lang="en-GB" sz="2400" dirty="0">
              <a:latin typeface="+mj-lt"/>
            </a:endParaRPr>
          </a:p>
          <a:p>
            <a:pPr marL="800100" lvl="1" indent="-342900" algn="just">
              <a:lnSpc>
                <a:spcPct val="150000"/>
              </a:lnSpc>
              <a:buFont typeface="Wingdings" panose="05000000000000000000" pitchFamily="2" charset="2"/>
              <a:buChar char="§"/>
            </a:pPr>
            <a:r>
              <a:rPr lang="vi-VN" sz="2400" dirty="0">
                <a:latin typeface="+mj-lt"/>
              </a:rPr>
              <a:t>Ví dụ: (Smith, 2023).</a:t>
            </a:r>
            <a:endParaRPr lang="en-US" sz="2400" dirty="0">
              <a:latin typeface="+mj-lt"/>
            </a:endParaRPr>
          </a:p>
        </p:txBody>
      </p:sp>
    </p:spTree>
    <p:extLst>
      <p:ext uri="{BB962C8B-B14F-4D97-AF65-F5344CB8AC3E}">
        <p14:creationId xmlns:p14="http://schemas.microsoft.com/office/powerpoint/2010/main" val="75213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Công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cụ</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lý</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trích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dẫn</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860609" y="1583835"/>
            <a:ext cx="10405035" cy="2803140"/>
          </a:xfrm>
          <a:prstGeom prst="rect">
            <a:avLst/>
          </a:prstGeom>
          <a:noFill/>
        </p:spPr>
        <p:txBody>
          <a:bodyPr wrap="square">
            <a:spAutoFit/>
          </a:bodyPr>
          <a:lstStyle/>
          <a:p>
            <a:pPr algn="just">
              <a:lnSpc>
                <a:spcPct val="150000"/>
              </a:lnSpc>
            </a:pPr>
            <a:r>
              <a:rPr lang="vi-VN" sz="2400" dirty="0">
                <a:latin typeface="+mj-lt"/>
              </a:rPr>
              <a:t>Để chuyên nghiệp hóa và tiết kiệm thời gian, bạn nên sử dụng các phần mềm quản lý tài liệu tham khảo (Reference Management Software):</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Zotero</a:t>
            </a:r>
            <a:r>
              <a:rPr lang="vi-VN" sz="2400" dirty="0">
                <a:latin typeface="+mj-lt"/>
              </a:rPr>
              <a:t>: Miễn phí, mã nguồn mở, hỗ trợ trình duyệt web rất tốt.</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EndNote</a:t>
            </a:r>
            <a:r>
              <a:rPr lang="vi-VN" sz="2400" dirty="0">
                <a:latin typeface="+mj-lt"/>
              </a:rPr>
              <a:t>: Phần mềm trả phí chuyên nghiệp, tích hợp sâu với MS Word.</a:t>
            </a:r>
            <a:endParaRPr lang="en-GB" sz="2400" dirty="0">
              <a:latin typeface="+mj-lt"/>
            </a:endParaRPr>
          </a:p>
          <a:p>
            <a:pPr marL="800100" lvl="1" indent="-342900" algn="just">
              <a:lnSpc>
                <a:spcPct val="150000"/>
              </a:lnSpc>
              <a:buFont typeface="Wingdings" panose="05000000000000000000" pitchFamily="2" charset="2"/>
              <a:buChar char="§"/>
            </a:pPr>
            <a:r>
              <a:rPr lang="vi-VN" sz="2400" b="1" dirty="0">
                <a:latin typeface="+mj-lt"/>
              </a:rPr>
              <a:t>Mendeley</a:t>
            </a:r>
            <a:r>
              <a:rPr lang="vi-VN" sz="2400" dirty="0">
                <a:latin typeface="+mj-lt"/>
              </a:rPr>
              <a:t>: Mạnh về mạng xã hội khoa học và đọc file PDF trực tiếp.</a:t>
            </a:r>
            <a:endParaRPr lang="en-US" sz="2400" dirty="0">
              <a:latin typeface="+mj-lt"/>
            </a:endParaRPr>
          </a:p>
        </p:txBody>
      </p:sp>
    </p:spTree>
    <p:extLst>
      <p:ext uri="{BB962C8B-B14F-4D97-AF65-F5344CB8AC3E}">
        <p14:creationId xmlns:p14="http://schemas.microsoft.com/office/powerpoint/2010/main" val="4152723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1AC7182-4EBD-03ED-1BE6-646A0ACFBF8B}"/>
              </a:ext>
            </a:extLst>
          </p:cNvPr>
          <p:cNvPicPr>
            <a:picLocks noChangeAspect="1"/>
          </p:cNvPicPr>
          <p:nvPr/>
        </p:nvPicPr>
        <p:blipFill>
          <a:blip r:embed="rId2"/>
          <a:stretch>
            <a:fillRect/>
          </a:stretch>
        </p:blipFill>
        <p:spPr>
          <a:xfrm>
            <a:off x="412376" y="744452"/>
            <a:ext cx="11474824" cy="5187493"/>
          </a:xfrm>
          <a:prstGeom prst="rect">
            <a:avLst/>
          </a:prstGeom>
        </p:spPr>
      </p:pic>
    </p:spTree>
    <p:extLst>
      <p:ext uri="{BB962C8B-B14F-4D97-AF65-F5344CB8AC3E}">
        <p14:creationId xmlns:p14="http://schemas.microsoft.com/office/powerpoint/2010/main" val="3947669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Xin </a:t>
            </a:r>
            <a:r>
              <a:rPr lang="en-US" sz="3600" b="1" dirty="0" err="1">
                <a:latin typeface="Times New Roman" panose="02020603050405020304" pitchFamily="18" charset="0"/>
                <a:cs typeface="Times New Roman" panose="02020603050405020304" pitchFamily="18" charset="0"/>
              </a:rPr>
              <a:t>chân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thành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cảm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ơn</a:t>
            </a:r>
            <a:r>
              <a:rPr lang="en-US" sz="36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6C77C32C-1D27-51DD-4941-56FA431E21BE}"/>
              </a:ext>
            </a:extLst>
          </p:cNvPr>
          <p:cNvSpPr txBox="1">
            <a:spLocks/>
          </p:cNvSpPr>
          <p:nvPr/>
        </p:nvSpPr>
        <p:spPr>
          <a:xfrm>
            <a:off x="679824" y="2163665"/>
            <a:ext cx="10800975" cy="2372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cs typeface="Times New Roman" panose="02020603050405020304" pitchFamily="18" charset="0"/>
              </a:rPr>
              <a:t>TS. </a:t>
            </a:r>
            <a:r>
              <a:rPr lang="en-GB" dirty="0" err="1">
                <a:cs typeface="Times New Roman" panose="02020603050405020304" pitchFamily="18" charset="0"/>
              </a:rPr>
              <a:t>Lưu</a:t>
            </a:r>
            <a:r>
              <a:rPr lang="en-GB" dirty="0">
                <a:cs typeface="Times New Roman" panose="02020603050405020304" pitchFamily="18" charset="0"/>
              </a:rPr>
              <a:t> </a:t>
            </a:r>
            <a:r>
              <a:rPr lang="en-GB" dirty="0" err="1">
                <a:cs typeface="Times New Roman" panose="02020603050405020304" pitchFamily="18" charset="0"/>
              </a:rPr>
              <a:t>Phúc</a:t>
            </a:r>
            <a:r>
              <a:rPr lang="en-GB" dirty="0">
                <a:cs typeface="Times New Roman" panose="02020603050405020304" pitchFamily="18" charset="0"/>
              </a:rPr>
              <a:t> Lợi</a:t>
            </a:r>
          </a:p>
          <a:p>
            <a:pPr marL="0" indent="0" algn="ctr">
              <a:lnSpc>
                <a:spcPct val="110000"/>
              </a:lnSpc>
              <a:buNone/>
            </a:pPr>
            <a:r>
              <a:rPr lang="vi-VN" b="1" dirty="0">
                <a:solidFill>
                  <a:srgbClr val="0070C0"/>
                </a:solidFill>
                <a:cs typeface="Times New Roman" panose="02020603050405020304" pitchFamily="18" charset="0"/>
              </a:rPr>
              <a:t>Viện Nghiên cứu Ứng dụng Khoa học Sức khỏe và Lão hóa (ARiHA)</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Bệnh</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viện</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Thống</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Nhất</a:t>
            </a:r>
            <a:br>
              <a:rPr lang="en-GB" b="1" dirty="0">
                <a:solidFill>
                  <a:srgbClr val="0070C0"/>
                </a:solidFill>
                <a:cs typeface="Times New Roman" panose="02020603050405020304" pitchFamily="18" charset="0"/>
              </a:rPr>
            </a:br>
            <a:r>
              <a:rPr lang="fr-FR" dirty="0">
                <a:solidFill>
                  <a:srgbClr val="0070C0"/>
                </a:solidFill>
                <a:cs typeface="Times New Roman" panose="02020603050405020304" pitchFamily="18" charset="0"/>
              </a:rPr>
              <a:t>Email: loilp@bvtn.org.vn, </a:t>
            </a:r>
            <a:r>
              <a:rPr lang="fr-FR" dirty="0" err="1">
                <a:solidFill>
                  <a:srgbClr val="0070C0"/>
                </a:solidFill>
                <a:cs typeface="Times New Roman" panose="02020603050405020304" pitchFamily="18" charset="0"/>
              </a:rPr>
              <a:t>Zalo</a:t>
            </a:r>
            <a:r>
              <a:rPr lang="fr-FR" dirty="0">
                <a:solidFill>
                  <a:srgbClr val="0070C0"/>
                </a:solidFill>
                <a:cs typeface="Times New Roman" panose="02020603050405020304" pitchFamily="18" charset="0"/>
              </a:rPr>
              <a:t>: 0901802182</a:t>
            </a:r>
          </a:p>
          <a:p>
            <a:endParaRPr lang="en-US" b="1" dirty="0">
              <a:solidFill>
                <a:srgbClr val="0070C0"/>
              </a:solidFill>
              <a:cs typeface="Times New Roman" panose="02020603050405020304" pitchFamily="18" charset="0"/>
            </a:endParaRPr>
          </a:p>
        </p:txBody>
      </p:sp>
    </p:spTree>
    <p:extLst>
      <p:ext uri="{BB962C8B-B14F-4D97-AF65-F5344CB8AC3E}">
        <p14:creationId xmlns:p14="http://schemas.microsoft.com/office/powerpoint/2010/main" val="90675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1730</Words>
  <Application>Microsoft Office PowerPoint</Application>
  <PresentationFormat>Widescreen</PresentationFormat>
  <Paragraphs>144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Office Theme</vt:lpstr>
      <vt:lpstr>Bài 3 Thiết kế nghiên cứu và ước lượng cỡ mẫu</vt:lpstr>
      <vt:lpstr>Nội dung</vt:lpstr>
      <vt:lpstr>PowerPoint Presentation</vt:lpstr>
      <vt:lpstr>Phân loại thiết kế nghiên cứu</vt:lpstr>
      <vt:lpstr>PowerPoint Presentation</vt:lpstr>
      <vt:lpstr>PowerPoint Presentation</vt:lpstr>
      <vt:lpstr>PowerPoint Presentation</vt:lpstr>
      <vt:lpstr>PowerPoint Presentation</vt:lpstr>
      <vt:lpstr>Thảo luận</vt:lpstr>
      <vt:lpstr>Thảo luận</vt:lpstr>
      <vt:lpstr>PowerPoint Presentation</vt:lpstr>
      <vt:lpstr>Tôi cần bao nhiêu bệnh nhân để kết quả có ý nghĩa thống kê?</vt:lpstr>
      <vt:lpstr>Ước tính một tỷ lệ</vt:lpstr>
      <vt:lpstr>Ước tính cỡ mẫu so sánh 2 tỷ lệ</vt:lpstr>
      <vt:lpstr>Ước tính cỡ mẫu cho so sánh hai trung bình</vt:lpstr>
      <vt:lpstr>Ước tính cỡ mẫu cho nghiên cứu tương quan  (correlation study)</vt:lpstr>
      <vt:lpstr>TỔNG KẾT BẢNG TRA CỨU NHANH</vt:lpstr>
      <vt:lpstr>CÁC SAI LẦM THƯỜNG GẶP</vt:lpstr>
      <vt:lpstr>PowerPoint Presentation</vt:lpstr>
      <vt:lpstr>Ví dụ thảo luận</vt:lpstr>
      <vt:lpstr>Ví dụ thảo luận</vt:lpstr>
      <vt:lpstr>PowerPoint Presentation</vt:lpstr>
      <vt:lpstr>Tại sao phải trích dẫn</vt:lpstr>
      <vt:lpstr>Các phong cách trích dẫn phổ biến trong Y sinh</vt:lpstr>
      <vt:lpstr>Công cụ quản lý trích dẫn</vt:lpstr>
      <vt:lpstr>PowerPoint Presentation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nghiên cứu khoa học và y đức trong nghiên cứu y sinh học</dc:title>
  <dc:creator>Luu Loi</dc:creator>
  <cp:lastModifiedBy>Luu Loi</cp:lastModifiedBy>
  <cp:revision>97</cp:revision>
  <dcterms:created xsi:type="dcterms:W3CDTF">2026-01-09T19:47:11Z</dcterms:created>
  <dcterms:modified xsi:type="dcterms:W3CDTF">2026-01-10T00:07:19Z</dcterms:modified>
</cp:coreProperties>
</file>